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1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12192000" cy="6858000"/>
  <p:notesSz cx="6858000" cy="12192000"/>
  <p:custShowLst>
    <p:custShow name="New Custom Slide Show" id="0">
      <p:sldLst>
        <p:sld r:id="rId4"/>
        <p:sld r:id="rId5"/>
        <p:sld r:id="rId6"/>
        <p:sld r:id="rId7"/>
        <p:sld r:id="rId8"/>
        <p:sld r:id="rId9"/>
        <p:sld r:id="rId10"/>
        <p:sld r:id="rId11"/>
        <p:sld r:id="rId12"/>
      </p:sldLst>
    </p:custShow>
  </p:custShowLst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notes'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012DE36C-40E8-4062-AD46-0BDEFA30F477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A58A788-E19E-4ED6-9FB2-ECE0319DA52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B64DDB2-DA82-4268-BFA8-CF62174C6A0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F85FA10-C57A-4D67-9E94-95CEEC1D07C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39116AB-6471-4763-ACE2-828C893C261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1531604-7B41-4A7B-BED2-2CB6959348F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A7333A8-FFB7-4144-AD8E-72EBC8710EB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99E0BF3-D00E-4A7E-929F-1E9C2A9C9FC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56ADB6A-5F9D-40C0-8CEF-0A688DCB2A5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5.png"/><Relationship Id="rId6" Type="http://schemas.openxmlformats.org/officeDocument/2006/relationships/image" Target="../media/image7.png"/><Relationship Id="rId7" Type="http://schemas.openxmlformats.org/officeDocument/2006/relationships/image" Target="../media/image5.png"/><Relationship Id="rId8" Type="http://schemas.openxmlformats.org/officeDocument/2006/relationships/image" Target="../media/image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Relationship Id="rId8" Type="http://schemas.openxmlformats.org/officeDocument/2006/relationships/image" Target="../media/image14.png"/><Relationship Id="rId9" Type="http://schemas.openxmlformats.org/officeDocument/2006/relationships/image" Target="../media/image12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Relationship Id="rId8" Type="http://schemas.openxmlformats.org/officeDocument/2006/relationships/image" Target="../media/image22.png"/><Relationship Id="rId9" Type="http://schemas.openxmlformats.org/officeDocument/2006/relationships/image" Target="../media/image23.png"/><Relationship Id="rId10" Type="http://schemas.openxmlformats.org/officeDocument/2006/relationships/image" Target="../media/image24.png"/><Relationship Id="rId11" Type="http://schemas.openxmlformats.org/officeDocument/2006/relationships/image" Target="../media/image25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6.png"/><Relationship Id="rId2" Type="http://schemas.openxmlformats.org/officeDocument/2006/relationships/image" Target="../media/image27.png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Relationship Id="rId6" Type="http://schemas.openxmlformats.org/officeDocument/2006/relationships/image" Target="../media/image31.png"/><Relationship Id="rId7" Type="http://schemas.openxmlformats.org/officeDocument/2006/relationships/image" Target="../media/image31.png"/><Relationship Id="rId8" Type="http://schemas.openxmlformats.org/officeDocument/2006/relationships/image" Target="../media/image31.png"/><Relationship Id="rId9" Type="http://schemas.openxmlformats.org/officeDocument/2006/relationships/image" Target="../media/image32.png"/><Relationship Id="rId10" Type="http://schemas.openxmlformats.org/officeDocument/2006/relationships/image" Target="../media/image33.png"/><Relationship Id="rId11" Type="http://schemas.openxmlformats.org/officeDocument/2006/relationships/image" Target="../media/image34.png"/><Relationship Id="rId12" Type="http://schemas.openxmlformats.org/officeDocument/2006/relationships/image" Target="../media/image34.png"/><Relationship Id="rId13" Type="http://schemas.openxmlformats.org/officeDocument/2006/relationships/image" Target="../media/image34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35.png"/><Relationship Id="rId2" Type="http://schemas.openxmlformats.org/officeDocument/2006/relationships/image" Target="../media/image36.png"/><Relationship Id="rId3" Type="http://schemas.openxmlformats.org/officeDocument/2006/relationships/image" Target="../media/image37.png"/><Relationship Id="rId4" Type="http://schemas.openxmlformats.org/officeDocument/2006/relationships/image" Target="../media/image38.png"/><Relationship Id="rId5" Type="http://schemas.openxmlformats.org/officeDocument/2006/relationships/image" Target="../media/image39.png"/><Relationship Id="rId6" Type="http://schemas.openxmlformats.org/officeDocument/2006/relationships/image" Target="../media/image40.png"/><Relationship Id="rId7" Type="http://schemas.openxmlformats.org/officeDocument/2006/relationships/image" Target="../media/image41.png"/><Relationship Id="rId8" Type="http://schemas.openxmlformats.org/officeDocument/2006/relationships/image" Target="../media/image42.png"/><Relationship Id="rId9" Type="http://schemas.openxmlformats.org/officeDocument/2006/relationships/image" Target="../media/image43.png"/><Relationship Id="rId10" Type="http://schemas.openxmlformats.org/officeDocument/2006/relationships/image" Target="../media/image40.png"/><Relationship Id="rId11" Type="http://schemas.openxmlformats.org/officeDocument/2006/relationships/image" Target="../media/image44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45.png"/><Relationship Id="rId2" Type="http://schemas.openxmlformats.org/officeDocument/2006/relationships/image" Target="../media/image46.png"/><Relationship Id="rId3" Type="http://schemas.openxmlformats.org/officeDocument/2006/relationships/image" Target="../media/image45.png"/><Relationship Id="rId4" Type="http://schemas.openxmlformats.org/officeDocument/2006/relationships/image" Target="../media/image47.png"/><Relationship Id="rId5" Type="http://schemas.openxmlformats.org/officeDocument/2006/relationships/image" Target="../media/image45.png"/><Relationship Id="rId6" Type="http://schemas.openxmlformats.org/officeDocument/2006/relationships/image" Target="../media/image48.png"/><Relationship Id="rId7" Type="http://schemas.openxmlformats.org/officeDocument/2006/relationships/image" Target="../media/image45.png"/><Relationship Id="rId8" Type="http://schemas.openxmlformats.org/officeDocument/2006/relationships/image" Target="../media/image49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50.jpeg"/><Relationship Id="rId2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51.png"/><Relationship Id="rId2" Type="http://schemas.openxmlformats.org/officeDocument/2006/relationships/image" Target="../media/image52.png"/><Relationship Id="rId3" Type="http://schemas.openxmlformats.org/officeDocument/2006/relationships/image" Target="../media/image53.png"/><Relationship Id="rId4" Type="http://schemas.openxmlformats.org/officeDocument/2006/relationships/image" Target="../media/image54.png"/><Relationship Id="rId5" Type="http://schemas.openxmlformats.org/officeDocument/2006/relationships/image" Target="../media/image55.png"/><Relationship Id="rId6" Type="http://schemas.openxmlformats.org/officeDocument/2006/relationships/image" Target="../media/image56.png"/><Relationship Id="rId7" Type="http://schemas.openxmlformats.org/officeDocument/2006/relationships/image" Target="../media/image57.png"/><Relationship Id="rId8" Type="http://schemas.openxmlformats.org/officeDocument/2006/relationships/image" Target="../media/image58.png"/><Relationship Id="rId9" Type="http://schemas.openxmlformats.org/officeDocument/2006/relationships/image" Target="../media/image59.png"/><Relationship Id="rId10" Type="http://schemas.openxmlformats.org/officeDocument/2006/relationships/image" Target="../media/image60.png"/><Relationship Id="rId11" Type="http://schemas.openxmlformats.org/officeDocument/2006/relationships/image" Target="../media/image6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EE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" name="Text 0"/>
          <p:cNvSpPr/>
          <p:nvPr/>
        </p:nvSpPr>
        <p:spPr>
          <a:xfrm>
            <a:off x="533520" y="3488400"/>
            <a:ext cx="6553080" cy="1769400"/>
          </a:xfrm>
          <a:prstGeom prst="rect">
            <a:avLst/>
          </a:prstGeom>
          <a:noFill/>
          <a:ln w="0">
            <a:noFill/>
          </a:ln>
          <a:effectLst>
            <a:outerShdw algn="bl" blurRad="190440" dir="5400000" dist="19080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ts val="4799"/>
              </a:lnSpc>
              <a:tabLst>
                <a:tab pos="0" algn="l"/>
              </a:tabLst>
            </a:pPr>
            <a:r>
              <a:rPr lang="en-US" sz="3600" b="1" u="none" spc="-96" strike="noStrike">
                <a:solidFill>
                  <a:srgbClr val="FFFFFF"/>
                </a:solidFill>
                <a:effectLst/>
                <a:uFillTx/>
                <a:latin typeface="Plus Jakarta Sans"/>
                <a:ea typeface="Plus Jakarta Sans"/>
              </a:rPr>
              <a:t>SafeShare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4799"/>
              </a:lnSpc>
              <a:tabLst>
                <a:tab pos="0" algn="l"/>
              </a:tabLst>
            </a:pPr>
            <a:r>
              <a:rPr lang="en-US" sz="3600" b="1" u="none" spc="-96" strike="noStrike">
                <a:solidFill>
                  <a:srgbClr val="FFFFFF"/>
                </a:solidFill>
                <a:effectLst/>
                <a:uFillTx/>
                <a:latin typeface="DM Sans"/>
                <a:ea typeface="DM Sans"/>
              </a:rPr>
              <a:t>3Tier Architecture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4799"/>
              </a:lnSpc>
              <a:tabLst>
                <a:tab pos="0" algn="l"/>
              </a:tabLst>
            </a:pPr>
            <a:r>
              <a:rPr lang="en-US" sz="3600" b="1" u="none" spc="-96" strike="noStrike">
                <a:solidFill>
                  <a:srgbClr val="A0C72A"/>
                </a:solidFill>
                <a:effectLst/>
                <a:uFillTx/>
                <a:latin typeface="DM Sans"/>
                <a:ea typeface="DM Sans"/>
              </a:rPr>
              <a:t>on AWS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en-US" sz="1800" b="1" u="none" spc="-96" strike="noStrike">
                <a:solidFill>
                  <a:srgbClr val="FFFFFF"/>
                </a:solidFill>
                <a:effectLst/>
                <a:uFillTx/>
                <a:latin typeface="Alef"/>
                <a:ea typeface="Microsoft YaHei"/>
              </a:rPr>
              <a:t>Capstone Portfolio / </a:t>
            </a:r>
            <a:r>
              <a:rPr lang="en-US" sz="1800" b="1" u="none" spc="-96" strike="noStrike">
                <a:solidFill>
                  <a:srgbClr val="FFFFFF"/>
                </a:solidFill>
                <a:effectLst/>
                <a:uFillTx/>
                <a:latin typeface="Alef"/>
                <a:ea typeface="DM Sans"/>
              </a:rPr>
              <a:t>Cloud Engineer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en-US" sz="1800" b="1" u="none" spc="-96" strike="noStrike">
                <a:solidFill>
                  <a:srgbClr val="FFFFFF"/>
                </a:solidFill>
                <a:effectLst/>
                <a:uFillTx/>
                <a:latin typeface="Alef"/>
                <a:ea typeface="DM Sans"/>
              </a:rPr>
              <a:t>By: Faramarz Karamizadeh Sep.2026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" name=""/>
          <p:cNvPicPr/>
          <p:nvPr/>
        </p:nvPicPr>
        <p:blipFill>
          <a:blip r:embed="rId2"/>
          <a:stretch/>
        </p:blipFill>
        <p:spPr>
          <a:xfrm>
            <a:off x="6629400" y="5456880"/>
            <a:ext cx="5486400" cy="1219680"/>
          </a:xfrm>
          <a:prstGeom prst="rect">
            <a:avLst/>
          </a:prstGeom>
          <a:noFill/>
          <a:ln w="3816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EE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919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" name="Text 0"/>
          <p:cNvSpPr/>
          <p:nvPr/>
        </p:nvSpPr>
        <p:spPr>
          <a:xfrm>
            <a:off x="533520" y="343080"/>
            <a:ext cx="5975280" cy="37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ts val="2971"/>
              </a:lnSpc>
              <a:tabLst>
                <a:tab pos="0" algn="l"/>
              </a:tabLst>
            </a:pPr>
            <a:r>
              <a:rPr lang="en-US" sz="2700" b="1" u="none" spc="-54" strike="noStrike">
                <a:solidFill>
                  <a:srgbClr val="1A2433"/>
                </a:solidFill>
                <a:effectLst/>
                <a:uFillTx/>
                <a:latin typeface="Plus Jakarta Sans"/>
                <a:ea typeface="Plus Jakarta Sans"/>
              </a:rPr>
              <a:t>Scalable sharing </a:t>
            </a:r>
            <a:r>
              <a:rPr lang="en-US" sz="2700" b="1" u="none" spc="-54" strike="noStrike">
                <a:solidFill>
                  <a:srgbClr val="1A2433"/>
                </a:solidFill>
                <a:effectLst/>
                <a:uFillTx/>
                <a:latin typeface="Plus Jakarta Sans"/>
                <a:ea typeface="Plus Jakarta Sans"/>
              </a:rPr>
              <a:t>without single failure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Shape 2"/>
          <p:cNvSpPr/>
          <p:nvPr/>
        </p:nvSpPr>
        <p:spPr>
          <a:xfrm>
            <a:off x="533520" y="1695600"/>
            <a:ext cx="4828680" cy="438120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0">
            <a:noFill/>
          </a:ln>
          <a:effectLst>
            <a:outerShdw algn="bl" blurRad="285840" dir="5400000" dist="76320" kx="0" ky="0" rotWithShape="0" sx="100000" sy="100000">
              <a:srgbClr val="1A2433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" name="Image 2" descr="preencoded.png"/>
          <p:cNvPicPr/>
          <p:nvPr/>
        </p:nvPicPr>
        <p:blipFill>
          <a:blip r:embed="rId2"/>
          <a:stretch/>
        </p:blipFill>
        <p:spPr>
          <a:xfrm>
            <a:off x="533520" y="1698120"/>
            <a:ext cx="4830480" cy="4381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" name="Image 3" descr="preencoded.png"/>
          <p:cNvPicPr/>
          <p:nvPr/>
        </p:nvPicPr>
        <p:blipFill>
          <a:blip r:embed="rId3"/>
          <a:stretch/>
        </p:blipFill>
        <p:spPr>
          <a:xfrm>
            <a:off x="5707440" y="2024280"/>
            <a:ext cx="6065280" cy="1268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" name="Image 4" descr="preencoded.png"/>
          <p:cNvPicPr/>
          <p:nvPr/>
        </p:nvPicPr>
        <p:blipFill>
          <a:blip r:embed="rId4"/>
          <a:stretch/>
        </p:blipFill>
        <p:spPr>
          <a:xfrm>
            <a:off x="6021720" y="2338560"/>
            <a:ext cx="418680" cy="418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" name="Text 3"/>
          <p:cNvSpPr/>
          <p:nvPr/>
        </p:nvSpPr>
        <p:spPr>
          <a:xfrm>
            <a:off x="6139440" y="2428920"/>
            <a:ext cx="30096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ts val="2024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FFFFFF"/>
                </a:solidFill>
                <a:effectLst/>
                <a:uFillTx/>
                <a:latin typeface="DM Sans"/>
                <a:ea typeface="DM Sans"/>
              </a:rPr>
              <a:t>01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4"/>
          <p:cNvSpPr/>
          <p:nvPr/>
        </p:nvSpPr>
        <p:spPr>
          <a:xfrm>
            <a:off x="6593040" y="2338560"/>
            <a:ext cx="48650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ts val="1440"/>
              </a:lnSpc>
              <a:spcAft>
                <a:spcPts val="451"/>
              </a:spcAft>
              <a:tabLst>
                <a:tab pos="0" algn="l"/>
              </a:tabLst>
            </a:pPr>
            <a:r>
              <a:rPr lang="en-US" sz="1200" b="1" u="none" spc="-11" strike="noStrike">
                <a:solidFill>
                  <a:srgbClr val="1A2433"/>
                </a:solidFill>
                <a:effectLst/>
                <a:uFillTx/>
                <a:latin typeface="Plus Jakarta Sans"/>
                <a:ea typeface="Plus Jakarta Sans"/>
              </a:rPr>
              <a:t>P</a:t>
            </a:r>
            <a:r>
              <a:rPr lang="en-US" sz="1200" b="1" u="none" spc="-11" strike="noStrike">
                <a:solidFill>
                  <a:srgbClr val="1A2433"/>
                </a:solidFill>
                <a:effectLst/>
                <a:uFillTx/>
                <a:latin typeface="Plus Jakarta Sans"/>
                <a:ea typeface="Plus Jakarta Sans"/>
              </a:rPr>
              <a:t>r</a:t>
            </a:r>
            <a:r>
              <a:rPr lang="en-US" sz="1200" b="1" u="none" spc="-11" strike="noStrike">
                <a:solidFill>
                  <a:srgbClr val="1A2433"/>
                </a:solidFill>
                <a:effectLst/>
                <a:uFillTx/>
                <a:latin typeface="Plus Jakarta Sans"/>
                <a:ea typeface="Plus Jakarta Sans"/>
              </a:rPr>
              <a:t>o</a:t>
            </a:r>
            <a:r>
              <a:rPr lang="en-US" sz="1200" b="1" u="none" spc="-11" strike="noStrike">
                <a:solidFill>
                  <a:srgbClr val="1A2433"/>
                </a:solidFill>
                <a:effectLst/>
                <a:uFillTx/>
                <a:latin typeface="Plus Jakarta Sans"/>
                <a:ea typeface="Plus Jakarta Sans"/>
              </a:rPr>
              <a:t>b</a:t>
            </a:r>
            <a:r>
              <a:rPr lang="en-US" sz="1200" b="1" u="none" spc="-11" strike="noStrike">
                <a:solidFill>
                  <a:srgbClr val="1A2433"/>
                </a:solidFill>
                <a:effectLst/>
                <a:uFillTx/>
                <a:latin typeface="Plus Jakarta Sans"/>
                <a:ea typeface="Plus Jakarta Sans"/>
              </a:rPr>
              <a:t>l</a:t>
            </a:r>
            <a:r>
              <a:rPr lang="en-US" sz="1200" b="1" u="none" spc="-11" strike="noStrike">
                <a:solidFill>
                  <a:srgbClr val="1A2433"/>
                </a:solidFill>
                <a:effectLst/>
                <a:uFillTx/>
                <a:latin typeface="Plus Jakarta Sans"/>
                <a:ea typeface="Plus Jakarta Sans"/>
              </a:rPr>
              <a:t>e</a:t>
            </a:r>
            <a:r>
              <a:rPr lang="en-US" sz="1200" b="1" u="none" spc="-11" strike="noStrike">
                <a:solidFill>
                  <a:srgbClr val="1A2433"/>
                </a:solidFill>
                <a:effectLst/>
                <a:uFillTx/>
                <a:latin typeface="Plus Jakarta Sans"/>
                <a:ea typeface="Plus Jakarta Sans"/>
              </a:rPr>
              <a:t>m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5"/>
          <p:cNvSpPr/>
          <p:nvPr/>
        </p:nvSpPr>
        <p:spPr>
          <a:xfrm>
            <a:off x="6593040" y="2588040"/>
            <a:ext cx="4865040" cy="39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576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3A4A64"/>
                </a:solidFill>
                <a:effectLst/>
                <a:uFillTx/>
                <a:latin typeface="DM Sans"/>
                <a:ea typeface="DM Sans"/>
              </a:rPr>
              <a:t>Single EC2, single disk = single point of failure. Files </a:t>
            </a:r>
            <a:r>
              <a:rPr lang="en-US" sz="1050" b="0" u="none" strike="noStrike">
                <a:solidFill>
                  <a:srgbClr val="3A4A64"/>
                </a:solidFill>
                <a:effectLst/>
                <a:uFillTx/>
                <a:latin typeface="DM Sans"/>
                <a:ea typeface="DM Sans"/>
              </a:rPr>
              <a:t>disappear on replacement, no HA across AZs, no scale.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2" name="Image 5" descr="preencoded.png"/>
          <p:cNvPicPr/>
          <p:nvPr/>
        </p:nvPicPr>
        <p:blipFill>
          <a:blip r:embed="rId5"/>
          <a:stretch/>
        </p:blipFill>
        <p:spPr>
          <a:xfrm>
            <a:off x="5707440" y="3216600"/>
            <a:ext cx="6065280" cy="1268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3" name="Image 6" descr="preencoded.png"/>
          <p:cNvPicPr/>
          <p:nvPr/>
        </p:nvPicPr>
        <p:blipFill>
          <a:blip r:embed="rId6"/>
          <a:stretch/>
        </p:blipFill>
        <p:spPr>
          <a:xfrm>
            <a:off x="6021720" y="3530880"/>
            <a:ext cx="418680" cy="418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" name="Text 6"/>
          <p:cNvSpPr/>
          <p:nvPr/>
        </p:nvSpPr>
        <p:spPr>
          <a:xfrm>
            <a:off x="6121440" y="3621600"/>
            <a:ext cx="31860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ts val="2024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FFFFFF"/>
                </a:solidFill>
                <a:effectLst/>
                <a:uFillTx/>
                <a:latin typeface="DM Sans"/>
                <a:ea typeface="DM Sans"/>
              </a:rPr>
              <a:t>02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7"/>
          <p:cNvSpPr/>
          <p:nvPr/>
        </p:nvSpPr>
        <p:spPr>
          <a:xfrm>
            <a:off x="6593040" y="3530880"/>
            <a:ext cx="48650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ts val="1440"/>
              </a:lnSpc>
              <a:spcAft>
                <a:spcPts val="451"/>
              </a:spcAft>
              <a:tabLst>
                <a:tab pos="0" algn="l"/>
              </a:tabLst>
            </a:pPr>
            <a:r>
              <a:rPr lang="en-US" sz="1200" b="1" u="none" spc="-11" strike="noStrike">
                <a:solidFill>
                  <a:srgbClr val="1A2433"/>
                </a:solidFill>
                <a:effectLst/>
                <a:uFillTx/>
                <a:latin typeface="Plus Jakarta Sans"/>
                <a:ea typeface="Plus Jakarta Sans"/>
              </a:rPr>
              <a:t>Solution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8"/>
          <p:cNvSpPr/>
          <p:nvPr/>
        </p:nvSpPr>
        <p:spPr>
          <a:xfrm>
            <a:off x="6593040" y="3780360"/>
            <a:ext cx="4865040" cy="39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576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3A4A64"/>
                </a:solidFill>
                <a:effectLst/>
                <a:uFillTx/>
                <a:latin typeface="DM Sans"/>
                <a:ea typeface="DM Sans"/>
              </a:rPr>
              <a:t>3Tier with </a:t>
            </a:r>
            <a:r>
              <a:rPr lang="en-US" sz="900" b="0" u="none" strike="noStrike">
                <a:solidFill>
                  <a:srgbClr val="2773E4"/>
                </a:solidFill>
                <a:effectLst/>
                <a:highlight>
                  <a:srgbClr val="EEEFFF"/>
                </a:highlight>
                <a:uFillTx/>
                <a:latin typeface="monospace"/>
                <a:ea typeface="monospace"/>
              </a:rPr>
              <a:t>ALB → ASG → S3</a:t>
            </a:r>
            <a:r>
              <a:rPr lang="en-US" sz="1050" b="0" u="none" strike="noStrike">
                <a:solidFill>
                  <a:srgbClr val="3A4A64"/>
                </a:solidFill>
                <a:effectLst/>
                <a:uFillTx/>
                <a:latin typeface="DM Sans"/>
                <a:ea typeface="DM Sans"/>
              </a:rPr>
              <a:t>. Stateless Flask on private EC2, central S3 for persistence, cron bidirectional sync every 60s.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7" name="Image 7" descr="preencoded.png"/>
          <p:cNvPicPr/>
          <p:nvPr/>
        </p:nvPicPr>
        <p:blipFill>
          <a:blip r:embed="rId7"/>
          <a:stretch/>
        </p:blipFill>
        <p:spPr>
          <a:xfrm>
            <a:off x="5707440" y="4408920"/>
            <a:ext cx="6065280" cy="1268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8" name="Image 8" descr="preencoded.png"/>
          <p:cNvPicPr/>
          <p:nvPr/>
        </p:nvPicPr>
        <p:blipFill>
          <a:blip r:embed="rId8"/>
          <a:stretch/>
        </p:blipFill>
        <p:spPr>
          <a:xfrm>
            <a:off x="6021720" y="4723200"/>
            <a:ext cx="418680" cy="418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" name="Text 9"/>
          <p:cNvSpPr/>
          <p:nvPr/>
        </p:nvSpPr>
        <p:spPr>
          <a:xfrm>
            <a:off x="6118920" y="4813920"/>
            <a:ext cx="32112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ts val="2024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A2433"/>
                </a:solidFill>
                <a:effectLst/>
                <a:uFillTx/>
                <a:latin typeface="DM Sans"/>
                <a:ea typeface="DM Sans"/>
              </a:rPr>
              <a:t>03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10"/>
          <p:cNvSpPr/>
          <p:nvPr/>
        </p:nvSpPr>
        <p:spPr>
          <a:xfrm>
            <a:off x="6593040" y="4723200"/>
            <a:ext cx="48650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ts val="1440"/>
              </a:lnSpc>
              <a:spcAft>
                <a:spcPts val="451"/>
              </a:spcAft>
              <a:tabLst>
                <a:tab pos="0" algn="l"/>
              </a:tabLst>
            </a:pPr>
            <a:r>
              <a:rPr lang="en-US" sz="1200" b="1" u="none" spc="-11" strike="noStrike">
                <a:solidFill>
                  <a:srgbClr val="1A2433"/>
                </a:solidFill>
                <a:effectLst/>
                <a:uFillTx/>
                <a:latin typeface="Plus Jakarta Sans"/>
                <a:ea typeface="Plus Jakarta Sans"/>
              </a:rPr>
              <a:t>Key design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11"/>
          <p:cNvSpPr/>
          <p:nvPr/>
        </p:nvSpPr>
        <p:spPr>
          <a:xfrm>
            <a:off x="6593040" y="4972680"/>
            <a:ext cx="4865040" cy="39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576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3A4A64"/>
                </a:solidFill>
                <a:effectLst/>
                <a:uFillTx/>
                <a:latin typeface="DM Sans"/>
                <a:ea typeface="DM Sans"/>
              </a:rPr>
              <a:t>Public ALB in public subnets, private EC2 with no public IP. Secure access </a:t>
            </a:r>
            <a:r>
              <a:rPr lang="en-US" sz="1050" b="0" u="none" strike="noStrike">
                <a:solidFill>
                  <a:srgbClr val="3A4A64"/>
                </a:solidFill>
                <a:effectLst/>
                <a:uFillTx/>
                <a:latin typeface="DM Sans"/>
                <a:ea typeface="DM Sans"/>
              </a:rPr>
              <a:t>via IAM policy.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EE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ext 0"/>
          <p:cNvSpPr/>
          <p:nvPr/>
        </p:nvSpPr>
        <p:spPr>
          <a:xfrm>
            <a:off x="533520" y="343080"/>
            <a:ext cx="4952520" cy="10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2806"/>
              </a:lnSpc>
              <a:tabLst>
                <a:tab pos="0" algn="l"/>
              </a:tabLst>
            </a:pPr>
            <a:r>
              <a:rPr lang="en-US" sz="2550" b="1" u="none" spc="-51" strike="noStrike">
                <a:solidFill>
                  <a:srgbClr val="1A2433"/>
                </a:solidFill>
                <a:effectLst/>
                <a:uFillTx/>
                <a:latin typeface="Plus Jakarta Sans"/>
                <a:ea typeface="Plus Jakarta Sans"/>
              </a:rPr>
              <a:t>VPC </a:t>
            </a:r>
            <a:r>
              <a:rPr lang="en-US" sz="2550" b="1" u="none" spc="-51" strike="noStrike">
                <a:solidFill>
                  <a:srgbClr val="1A2433"/>
                </a:solidFill>
                <a:effectLst/>
                <a:uFillTx/>
                <a:latin typeface="Plus Jakarta Sans"/>
                <a:ea typeface="Plus Jakarta Sans"/>
              </a:rPr>
              <a:t>10.0.</a:t>
            </a:r>
            <a:r>
              <a:rPr lang="en-US" sz="2550" b="1" u="none" spc="-51" strike="noStrike">
                <a:solidFill>
                  <a:srgbClr val="1A2433"/>
                </a:solidFill>
                <a:effectLst/>
                <a:uFillTx/>
                <a:latin typeface="Plus Jakarta Sans"/>
                <a:ea typeface="Plus Jakarta Sans"/>
              </a:rPr>
              <a:t>0.0/16 </a:t>
            </a:r>
            <a:r>
              <a:rPr lang="en-US" sz="2550" b="1" u="none" spc="-51" strike="noStrike">
                <a:solidFill>
                  <a:srgbClr val="1A2433"/>
                </a:solidFill>
                <a:effectLst/>
                <a:uFillTx/>
                <a:latin typeface="Plus Jakarta Sans"/>
                <a:ea typeface="Plus Jakarta Sans"/>
              </a:rPr>
              <a:t>acros</a:t>
            </a:r>
            <a:r>
              <a:rPr lang="en-US" sz="2550" b="1" u="none" spc="-51" strike="noStrike">
                <a:solidFill>
                  <a:srgbClr val="1A2433"/>
                </a:solidFill>
                <a:effectLst/>
                <a:uFillTx/>
                <a:latin typeface="Plus Jakarta Sans"/>
                <a:ea typeface="Plus Jakarta Sans"/>
              </a:rPr>
              <a:t>s 2 </a:t>
            </a:r>
            <a:r>
              <a:rPr lang="en-US" sz="2550" b="1" u="none" spc="-51" strike="noStrike">
                <a:solidFill>
                  <a:srgbClr val="1A2433"/>
                </a:solidFill>
                <a:effectLst/>
                <a:uFillTx/>
                <a:latin typeface="Plus Jakarta Sans"/>
                <a:ea typeface="Plus Jakarta Sans"/>
              </a:rPr>
              <a:t>AZs </a:t>
            </a:r>
            <a:r>
              <a:rPr lang="en-US" sz="2550" b="1" u="none" spc="-51" strike="noStrike">
                <a:solidFill>
                  <a:srgbClr val="1A2433"/>
                </a:solidFill>
                <a:effectLst/>
                <a:uFillTx/>
                <a:latin typeface="Plus Jakarta Sans"/>
                <a:ea typeface="Plus Jakarta Sans"/>
              </a:rPr>
              <a:t>— </a:t>
            </a:r>
            <a:r>
              <a:rPr lang="en-US" sz="2550" b="1" u="none" spc="-51" strike="noStrike">
                <a:solidFill>
                  <a:srgbClr val="1A2433"/>
                </a:solidFill>
                <a:effectLst/>
                <a:uFillTx/>
                <a:latin typeface="Plus Jakarta Sans"/>
                <a:ea typeface="Plus Jakarta Sans"/>
              </a:rPr>
              <a:t>publi</a:t>
            </a:r>
            <a:r>
              <a:rPr lang="en-US" sz="2550" b="1" u="none" spc="-51" strike="noStrike">
                <a:solidFill>
                  <a:srgbClr val="1A2433"/>
                </a:solidFill>
                <a:effectLst/>
                <a:uFillTx/>
                <a:latin typeface="Plus Jakarta Sans"/>
                <a:ea typeface="Plus Jakarta Sans"/>
              </a:rPr>
              <a:t>c for </a:t>
            </a:r>
            <a:r>
              <a:rPr lang="en-US" sz="2550" b="1" u="none" spc="-51" strike="noStrike">
                <a:solidFill>
                  <a:srgbClr val="1A2433"/>
                </a:solidFill>
                <a:effectLst/>
                <a:uFillTx/>
                <a:latin typeface="Plus Jakarta Sans"/>
                <a:ea typeface="Plus Jakarta Sans"/>
              </a:rPr>
              <a:t>ALB, </a:t>
            </a:r>
            <a:r>
              <a:rPr lang="en-US" sz="2550" b="1" u="none" spc="-51" strike="noStrike">
                <a:solidFill>
                  <a:srgbClr val="1A2433"/>
                </a:solidFill>
                <a:effectLst/>
                <a:uFillTx/>
                <a:latin typeface="Plus Jakarta Sans"/>
                <a:ea typeface="Plus Jakarta Sans"/>
              </a:rPr>
              <a:t>privat</a:t>
            </a:r>
            <a:r>
              <a:rPr lang="en-US" sz="2550" b="1" u="none" spc="-51" strike="noStrike">
                <a:solidFill>
                  <a:srgbClr val="1A2433"/>
                </a:solidFill>
                <a:effectLst/>
                <a:uFillTx/>
                <a:latin typeface="Plus Jakarta Sans"/>
                <a:ea typeface="Plus Jakarta Sans"/>
              </a:rPr>
              <a:t>e for </a:t>
            </a:r>
            <a:r>
              <a:rPr lang="en-US" sz="2550" b="1" u="none" spc="-51" strike="noStrike">
                <a:solidFill>
                  <a:srgbClr val="1A2433"/>
                </a:solidFill>
                <a:effectLst/>
                <a:uFillTx/>
                <a:latin typeface="Plus Jakarta Sans"/>
                <a:ea typeface="Plus Jakarta Sans"/>
              </a:rPr>
              <a:t>comp</a:t>
            </a:r>
            <a:r>
              <a:rPr lang="en-US" sz="2550" b="1" u="none" spc="-51" strike="noStrike">
                <a:solidFill>
                  <a:srgbClr val="1A2433"/>
                </a:solidFill>
                <a:effectLst/>
                <a:uFillTx/>
                <a:latin typeface="Plus Jakarta Sans"/>
                <a:ea typeface="Plus Jakarta Sans"/>
              </a:rPr>
              <a:t>ute</a:t>
            </a:r>
            <a:endParaRPr lang="en-US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3" name="Image 0" descr="preencoded.png"/>
          <p:cNvPicPr/>
          <p:nvPr/>
        </p:nvPicPr>
        <p:blipFill>
          <a:blip r:embed="rId1"/>
          <a:stretch/>
        </p:blipFill>
        <p:spPr>
          <a:xfrm>
            <a:off x="228600" y="1335240"/>
            <a:ext cx="5981400" cy="5522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4" name="Image 1" descr="preencoded.png"/>
          <p:cNvPicPr/>
          <p:nvPr/>
        </p:nvPicPr>
        <p:blipFill>
          <a:blip r:embed="rId2"/>
          <a:stretch/>
        </p:blipFill>
        <p:spPr>
          <a:xfrm>
            <a:off x="657360" y="1839960"/>
            <a:ext cx="5124240" cy="4588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5" name="Image 2" descr="preencoded.png"/>
          <p:cNvPicPr/>
          <p:nvPr/>
        </p:nvPicPr>
        <p:blipFill>
          <a:blip r:embed="rId3"/>
          <a:stretch/>
        </p:blipFill>
        <p:spPr>
          <a:xfrm>
            <a:off x="6286680" y="2598120"/>
            <a:ext cx="1287720" cy="356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" name="Text 2"/>
          <p:cNvSpPr/>
          <p:nvPr/>
        </p:nvSpPr>
        <p:spPr>
          <a:xfrm>
            <a:off x="6352200" y="2657520"/>
            <a:ext cx="944640" cy="18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ts val="1463"/>
              </a:lnSpc>
              <a:tabLst>
                <a:tab pos="0" algn="l"/>
              </a:tabLst>
            </a:pPr>
            <a:r>
              <a:rPr lang="en-US" sz="980" b="1" u="none" strike="noStrike">
                <a:solidFill>
                  <a:srgbClr val="FFFFFF"/>
                </a:solidFill>
                <a:effectLst/>
                <a:highlight>
                  <a:srgbClr val="1A2433"/>
                </a:highlight>
                <a:uFillTx/>
                <a:latin typeface="DM Sans"/>
                <a:ea typeface="DM Sans"/>
              </a:rPr>
              <a:t> VPC: 10.0.0.0/16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3"/>
          <p:cNvSpPr/>
          <p:nvPr/>
        </p:nvSpPr>
        <p:spPr>
          <a:xfrm>
            <a:off x="6419880" y="2781360"/>
            <a:ext cx="36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38" name="Image 3" descr="preencoded.png"/>
          <p:cNvPicPr/>
          <p:nvPr/>
        </p:nvPicPr>
        <p:blipFill>
          <a:blip r:embed="rId4"/>
          <a:stretch/>
        </p:blipFill>
        <p:spPr>
          <a:xfrm>
            <a:off x="7741800" y="2598120"/>
            <a:ext cx="1291320" cy="356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9" name="Text 4"/>
          <p:cNvSpPr/>
          <p:nvPr/>
        </p:nvSpPr>
        <p:spPr>
          <a:xfrm>
            <a:off x="7960680" y="2693520"/>
            <a:ext cx="929160" cy="17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ts val="1463"/>
              </a:lnSpc>
              <a:tabLst>
                <a:tab pos="0" algn="l"/>
              </a:tabLst>
            </a:pPr>
            <a:r>
              <a:rPr lang="en-US" sz="980" b="1" u="none" strike="noStrike">
                <a:solidFill>
                  <a:srgbClr val="1A2433"/>
                </a:solidFill>
                <a:effectLst/>
                <a:highlight>
                  <a:srgbClr val="FFFFFF"/>
                </a:highlight>
                <a:uFillTx/>
                <a:latin typeface="DM Sans"/>
                <a:ea typeface="DM Sans"/>
              </a:rPr>
              <a:t> NAT → IGW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5"/>
          <p:cNvSpPr/>
          <p:nvPr/>
        </p:nvSpPr>
        <p:spPr>
          <a:xfrm>
            <a:off x="7810560" y="2781360"/>
            <a:ext cx="36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41" name="Image 4" descr="preencoded.png"/>
          <p:cNvPicPr/>
          <p:nvPr/>
        </p:nvPicPr>
        <p:blipFill>
          <a:blip r:embed="rId5"/>
          <a:stretch/>
        </p:blipFill>
        <p:spPr>
          <a:xfrm>
            <a:off x="6191280" y="2993400"/>
            <a:ext cx="2819160" cy="1140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2" name="Text 6"/>
          <p:cNvSpPr/>
          <p:nvPr/>
        </p:nvSpPr>
        <p:spPr>
          <a:xfrm>
            <a:off x="6496200" y="3269880"/>
            <a:ext cx="2247480" cy="14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ts val="1239"/>
              </a:lnSpc>
              <a:spcAft>
                <a:spcPts val="300"/>
              </a:spcAft>
              <a:tabLst>
                <a:tab pos="0" algn="l"/>
              </a:tabLst>
            </a:pPr>
            <a:r>
              <a:rPr lang="en-US" sz="820" b="1" u="none" spc="57" strike="noStrike">
                <a:solidFill>
                  <a:srgbClr val="2773E4"/>
                </a:solidFill>
                <a:effectLst/>
                <a:uFillTx/>
                <a:latin typeface="DM Sans"/>
                <a:ea typeface="DM Sans"/>
              </a:rPr>
              <a:t>PUBLIC AZ-A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7"/>
          <p:cNvSpPr/>
          <p:nvPr/>
        </p:nvSpPr>
        <p:spPr>
          <a:xfrm>
            <a:off x="6496200" y="3465000"/>
            <a:ext cx="2247480" cy="20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ts val="1687"/>
              </a:lnSpc>
              <a:spcAft>
                <a:spcPts val="300"/>
              </a:spcAft>
              <a:tabLst>
                <a:tab pos="0" algn="l"/>
              </a:tabLst>
            </a:pPr>
            <a:r>
              <a:rPr lang="en-US" sz="1130" b="1" u="none" strike="noStrike">
                <a:solidFill>
                  <a:srgbClr val="1A2433"/>
                </a:solidFill>
                <a:effectLst/>
                <a:uFillTx/>
                <a:latin typeface="Plus Jakarta Sans"/>
                <a:ea typeface="Plus Jakarta Sans"/>
              </a:rPr>
              <a:t>10.0.1.0/24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8"/>
          <p:cNvSpPr/>
          <p:nvPr/>
        </p:nvSpPr>
        <p:spPr>
          <a:xfrm>
            <a:off x="6496200" y="3708000"/>
            <a:ext cx="2247480" cy="15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ts val="1261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5A6B86"/>
                </a:solidFill>
                <a:effectLst/>
                <a:uFillTx/>
                <a:latin typeface="DM Sans"/>
                <a:ea typeface="DM Sans"/>
              </a:rPr>
              <a:t>ALB subnet, route to IGW, high availability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5" name="Image 5" descr="preencoded.png"/>
          <p:cNvPicPr/>
          <p:nvPr/>
        </p:nvPicPr>
        <p:blipFill>
          <a:blip r:embed="rId6"/>
          <a:stretch/>
        </p:blipFill>
        <p:spPr>
          <a:xfrm>
            <a:off x="8934480" y="2993400"/>
            <a:ext cx="2819160" cy="1140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6" name="Text 9"/>
          <p:cNvSpPr/>
          <p:nvPr/>
        </p:nvSpPr>
        <p:spPr>
          <a:xfrm>
            <a:off x="9239400" y="3269880"/>
            <a:ext cx="2247480" cy="14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ts val="1239"/>
              </a:lnSpc>
              <a:spcAft>
                <a:spcPts val="300"/>
              </a:spcAft>
              <a:tabLst>
                <a:tab pos="0" algn="l"/>
              </a:tabLst>
            </a:pPr>
            <a:r>
              <a:rPr lang="en-US" sz="820" b="1" u="none" spc="57" strike="noStrike">
                <a:solidFill>
                  <a:srgbClr val="2773E4"/>
                </a:solidFill>
                <a:effectLst/>
                <a:uFillTx/>
                <a:latin typeface="DM Sans"/>
                <a:ea typeface="DM Sans"/>
              </a:rPr>
              <a:t>P</a:t>
            </a:r>
            <a:r>
              <a:rPr lang="en-US" sz="820" b="1" u="none" spc="57" strike="noStrike">
                <a:solidFill>
                  <a:srgbClr val="2773E4"/>
                </a:solidFill>
                <a:effectLst/>
                <a:uFillTx/>
                <a:latin typeface="DM Sans"/>
                <a:ea typeface="DM Sans"/>
              </a:rPr>
              <a:t>U</a:t>
            </a:r>
            <a:r>
              <a:rPr lang="en-US" sz="820" b="1" u="none" spc="57" strike="noStrike">
                <a:solidFill>
                  <a:srgbClr val="2773E4"/>
                </a:solidFill>
                <a:effectLst/>
                <a:uFillTx/>
                <a:latin typeface="DM Sans"/>
                <a:ea typeface="DM Sans"/>
              </a:rPr>
              <a:t>B</a:t>
            </a:r>
            <a:r>
              <a:rPr lang="en-US" sz="820" b="1" u="none" spc="57" strike="noStrike">
                <a:solidFill>
                  <a:srgbClr val="2773E4"/>
                </a:solidFill>
                <a:effectLst/>
                <a:uFillTx/>
                <a:latin typeface="DM Sans"/>
                <a:ea typeface="DM Sans"/>
              </a:rPr>
              <a:t>L</a:t>
            </a:r>
            <a:r>
              <a:rPr lang="en-US" sz="820" b="1" u="none" spc="57" strike="noStrike">
                <a:solidFill>
                  <a:srgbClr val="2773E4"/>
                </a:solidFill>
                <a:effectLst/>
                <a:uFillTx/>
                <a:latin typeface="DM Sans"/>
                <a:ea typeface="DM Sans"/>
              </a:rPr>
              <a:t>I</a:t>
            </a:r>
            <a:r>
              <a:rPr lang="en-US" sz="820" b="1" u="none" spc="57" strike="noStrike">
                <a:solidFill>
                  <a:srgbClr val="2773E4"/>
                </a:solidFill>
                <a:effectLst/>
                <a:uFillTx/>
                <a:latin typeface="DM Sans"/>
                <a:ea typeface="DM Sans"/>
              </a:rPr>
              <a:t>C</a:t>
            </a:r>
            <a:r>
              <a:rPr lang="en-US" sz="820" b="1" u="none" spc="57" strike="noStrike">
                <a:solidFill>
                  <a:srgbClr val="2773E4"/>
                </a:solidFill>
                <a:effectLst/>
                <a:uFillTx/>
                <a:latin typeface="DM Sans"/>
                <a:ea typeface="DM Sans"/>
              </a:rPr>
              <a:t> </a:t>
            </a:r>
            <a:r>
              <a:rPr lang="en-US" sz="820" b="1" u="none" spc="57" strike="noStrike">
                <a:solidFill>
                  <a:srgbClr val="2773E4"/>
                </a:solidFill>
                <a:effectLst/>
                <a:uFillTx/>
                <a:latin typeface="DM Sans"/>
                <a:ea typeface="DM Sans"/>
              </a:rPr>
              <a:t>A</a:t>
            </a:r>
            <a:r>
              <a:rPr lang="en-US" sz="820" b="1" u="none" spc="57" strike="noStrike">
                <a:solidFill>
                  <a:srgbClr val="2773E4"/>
                </a:solidFill>
                <a:effectLst/>
                <a:uFillTx/>
                <a:latin typeface="DM Sans"/>
                <a:ea typeface="DM Sans"/>
              </a:rPr>
              <a:t>Z</a:t>
            </a:r>
            <a:r>
              <a:rPr lang="en-US" sz="820" b="1" u="none" spc="57" strike="noStrike">
                <a:solidFill>
                  <a:srgbClr val="2773E4"/>
                </a:solidFill>
                <a:effectLst/>
                <a:uFillTx/>
                <a:latin typeface="DM Sans"/>
                <a:ea typeface="DM Sans"/>
              </a:rPr>
              <a:t>-</a:t>
            </a:r>
            <a:r>
              <a:rPr lang="en-US" sz="820" b="1" u="none" spc="57" strike="noStrike">
                <a:solidFill>
                  <a:srgbClr val="2773E4"/>
                </a:solidFill>
                <a:effectLst/>
                <a:uFillTx/>
                <a:latin typeface="DM Sans"/>
                <a:ea typeface="DM Sans"/>
              </a:rPr>
              <a:t>B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10"/>
          <p:cNvSpPr/>
          <p:nvPr/>
        </p:nvSpPr>
        <p:spPr>
          <a:xfrm>
            <a:off x="9239400" y="3465000"/>
            <a:ext cx="2247480" cy="20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ts val="1687"/>
              </a:lnSpc>
              <a:spcAft>
                <a:spcPts val="300"/>
              </a:spcAft>
              <a:tabLst>
                <a:tab pos="0" algn="l"/>
              </a:tabLst>
            </a:pPr>
            <a:r>
              <a:rPr lang="en-US" sz="1130" b="1" u="none" strike="noStrike">
                <a:solidFill>
                  <a:srgbClr val="1A2433"/>
                </a:solidFill>
                <a:effectLst/>
                <a:uFillTx/>
                <a:latin typeface="Plus Jakarta Sans"/>
                <a:ea typeface="Plus Jakarta Sans"/>
              </a:rPr>
              <a:t>10.0.2.0/24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11"/>
          <p:cNvSpPr/>
          <p:nvPr/>
        </p:nvSpPr>
        <p:spPr>
          <a:xfrm>
            <a:off x="9239400" y="3708000"/>
            <a:ext cx="2247480" cy="15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ts val="1261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5A6B86"/>
                </a:solidFill>
                <a:effectLst/>
                <a:uFillTx/>
                <a:latin typeface="DM Sans"/>
                <a:ea typeface="DM Sans"/>
              </a:rPr>
              <a:t>ALB subnet second AZ, HA failover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9" name="Image 6" descr="preencoded.png"/>
          <p:cNvPicPr/>
          <p:nvPr/>
        </p:nvPicPr>
        <p:blipFill>
          <a:blip r:embed="rId7"/>
          <a:stretch/>
        </p:blipFill>
        <p:spPr>
          <a:xfrm>
            <a:off x="6191280" y="4020120"/>
            <a:ext cx="2819160" cy="1140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0" name="Text 12"/>
          <p:cNvSpPr/>
          <p:nvPr/>
        </p:nvSpPr>
        <p:spPr>
          <a:xfrm>
            <a:off x="6496200" y="4296600"/>
            <a:ext cx="2247480" cy="14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ts val="1239"/>
              </a:lnSpc>
              <a:spcAft>
                <a:spcPts val="300"/>
              </a:spcAft>
              <a:tabLst>
                <a:tab pos="0" algn="l"/>
              </a:tabLst>
            </a:pPr>
            <a:r>
              <a:rPr lang="en-US" sz="820" b="1" u="none" spc="57" strike="noStrike">
                <a:solidFill>
                  <a:srgbClr val="6B8A0F"/>
                </a:solidFill>
                <a:effectLst/>
                <a:uFillTx/>
                <a:latin typeface="DM Sans"/>
                <a:ea typeface="DM Sans"/>
              </a:rPr>
              <a:t>PRIVATE AZ-A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13"/>
          <p:cNvSpPr/>
          <p:nvPr/>
        </p:nvSpPr>
        <p:spPr>
          <a:xfrm>
            <a:off x="6496200" y="4491720"/>
            <a:ext cx="2247480" cy="20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ts val="1687"/>
              </a:lnSpc>
              <a:spcAft>
                <a:spcPts val="300"/>
              </a:spcAft>
              <a:tabLst>
                <a:tab pos="0" algn="l"/>
              </a:tabLst>
            </a:pPr>
            <a:r>
              <a:rPr lang="en-US" sz="1130" b="1" u="none" strike="noStrike">
                <a:solidFill>
                  <a:srgbClr val="1A2433"/>
                </a:solidFill>
                <a:effectLst/>
                <a:uFillTx/>
                <a:latin typeface="Plus Jakarta Sans"/>
                <a:ea typeface="Plus Jakarta Sans"/>
              </a:rPr>
              <a:t>10.0.101.0/24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14"/>
          <p:cNvSpPr/>
          <p:nvPr/>
        </p:nvSpPr>
        <p:spPr>
          <a:xfrm>
            <a:off x="6496200" y="4734720"/>
            <a:ext cx="2247480" cy="15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ts val="1261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5A6B86"/>
                </a:solidFill>
                <a:effectLst/>
                <a:uFillTx/>
                <a:latin typeface="DM Sans"/>
                <a:ea typeface="DM Sans"/>
              </a:rPr>
              <a:t>ASG EC2, no public IP, isolated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3" name="Image 7" descr="preencoded.png"/>
          <p:cNvPicPr/>
          <p:nvPr/>
        </p:nvPicPr>
        <p:blipFill>
          <a:blip r:embed="rId8"/>
          <a:stretch/>
        </p:blipFill>
        <p:spPr>
          <a:xfrm>
            <a:off x="8934480" y="4020120"/>
            <a:ext cx="2819160" cy="1140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4" name="Text 15"/>
          <p:cNvSpPr/>
          <p:nvPr/>
        </p:nvSpPr>
        <p:spPr>
          <a:xfrm>
            <a:off x="9239400" y="4296600"/>
            <a:ext cx="2247480" cy="14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ts val="1239"/>
              </a:lnSpc>
              <a:spcAft>
                <a:spcPts val="300"/>
              </a:spcAft>
              <a:tabLst>
                <a:tab pos="0" algn="l"/>
              </a:tabLst>
            </a:pPr>
            <a:r>
              <a:rPr lang="en-US" sz="820" b="1" u="none" spc="57" strike="noStrike">
                <a:solidFill>
                  <a:srgbClr val="6B8A0F"/>
                </a:solidFill>
                <a:effectLst/>
                <a:uFillTx/>
                <a:latin typeface="DM Sans"/>
                <a:ea typeface="DM Sans"/>
              </a:rPr>
              <a:t>PRIVATE AZ-B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16"/>
          <p:cNvSpPr/>
          <p:nvPr/>
        </p:nvSpPr>
        <p:spPr>
          <a:xfrm>
            <a:off x="9239400" y="4491720"/>
            <a:ext cx="2247480" cy="20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ts val="1687"/>
              </a:lnSpc>
              <a:spcAft>
                <a:spcPts val="300"/>
              </a:spcAft>
              <a:tabLst>
                <a:tab pos="0" algn="l"/>
              </a:tabLst>
            </a:pPr>
            <a:r>
              <a:rPr lang="en-US" sz="1130" b="1" u="none" strike="noStrike">
                <a:solidFill>
                  <a:srgbClr val="1A2433"/>
                </a:solidFill>
                <a:effectLst/>
                <a:uFillTx/>
                <a:latin typeface="Plus Jakarta Sans"/>
                <a:ea typeface="Plus Jakarta Sans"/>
              </a:rPr>
              <a:t>10.0.102.0/24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17"/>
          <p:cNvSpPr/>
          <p:nvPr/>
        </p:nvSpPr>
        <p:spPr>
          <a:xfrm>
            <a:off x="9239400" y="4734720"/>
            <a:ext cx="2247480" cy="15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ts val="1261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5A6B86"/>
                </a:solidFill>
                <a:effectLst/>
                <a:uFillTx/>
                <a:latin typeface="DM Sans"/>
                <a:ea typeface="DM Sans"/>
              </a:rPr>
              <a:t>ASG EC2, SSM only access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7" name="Image 16" descr="preencoded.png"/>
          <p:cNvPicPr/>
          <p:nvPr/>
        </p:nvPicPr>
        <p:blipFill>
          <a:blip r:embed="rId9"/>
          <a:stretch/>
        </p:blipFill>
        <p:spPr>
          <a:xfrm>
            <a:off x="9146160" y="2598480"/>
            <a:ext cx="1291320" cy="356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8" name=""/>
          <p:cNvSpPr txBox="1"/>
          <p:nvPr/>
        </p:nvSpPr>
        <p:spPr>
          <a:xfrm>
            <a:off x="9184680" y="2666520"/>
            <a:ext cx="1221480" cy="26604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pPr/>
            <a:r>
              <a:rPr lang="en-US" sz="980" b="1" u="none" strike="noStrike">
                <a:solidFill>
                  <a:srgbClr val="1A2433"/>
                </a:solidFill>
                <a:effectLst/>
                <a:highlight>
                  <a:srgbClr val="FFFFFF"/>
                </a:highlight>
                <a:uFillTx/>
                <a:latin typeface="DM Sans"/>
                <a:ea typeface="DM Sans"/>
              </a:rPr>
              <a:t>IGW → Internet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EE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Text 0"/>
          <p:cNvSpPr/>
          <p:nvPr/>
        </p:nvSpPr>
        <p:spPr>
          <a:xfrm>
            <a:off x="533520" y="343080"/>
            <a:ext cx="4710960" cy="35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ts val="2806"/>
              </a:lnSpc>
              <a:tabLst>
                <a:tab pos="0" algn="l"/>
              </a:tabLst>
            </a:pPr>
            <a:r>
              <a:rPr lang="en-US" sz="2550" b="1" u="none" spc="-51" strike="noStrike">
                <a:solidFill>
                  <a:srgbClr val="1A2433"/>
                </a:solidFill>
                <a:effectLst/>
                <a:uFillTx/>
                <a:latin typeface="Plus Jakarta Sans"/>
                <a:ea typeface="Plus Jakarta Sans"/>
              </a:rPr>
              <a:t> S3 is the source of truth</a:t>
            </a:r>
            <a:endParaRPr lang="en-US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0" name="Image 0" descr="preencoded.png"/>
          <p:cNvPicPr/>
          <p:nvPr/>
        </p:nvPicPr>
        <p:blipFill>
          <a:blip r:embed="rId1"/>
          <a:stretch/>
        </p:blipFill>
        <p:spPr>
          <a:xfrm>
            <a:off x="10503360" y="368640"/>
            <a:ext cx="1154520" cy="304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1" name="Text 1"/>
          <p:cNvSpPr/>
          <p:nvPr/>
        </p:nvSpPr>
        <p:spPr>
          <a:xfrm>
            <a:off x="10564920" y="444600"/>
            <a:ext cx="88812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ts val="1349"/>
              </a:lnSpc>
              <a:tabLst>
                <a:tab pos="0" algn="l"/>
              </a:tabLst>
            </a:pPr>
            <a:r>
              <a:rPr lang="en-US" sz="900" b="1" u="none" spc="62" strike="noStrike">
                <a:solidFill>
                  <a:srgbClr val="1A2433"/>
                </a:solidFill>
                <a:effectLst/>
                <a:highlight>
                  <a:srgbClr val="A0C72A"/>
                </a:highlight>
                <a:uFillTx/>
                <a:latin typeface="DM Sans"/>
                <a:ea typeface="DM Sans"/>
              </a:rPr>
              <a:t>STORAGE TIER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2" name="Image 1" descr="preencoded.png"/>
          <p:cNvPicPr/>
          <p:nvPr/>
        </p:nvPicPr>
        <p:blipFill>
          <a:blip r:embed="rId2"/>
          <a:stretch/>
        </p:blipFill>
        <p:spPr>
          <a:xfrm>
            <a:off x="247680" y="1880640"/>
            <a:ext cx="7337520" cy="2857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3" name="Text 2"/>
          <p:cNvSpPr/>
          <p:nvPr/>
        </p:nvSpPr>
        <p:spPr>
          <a:xfrm>
            <a:off x="723960" y="2471040"/>
            <a:ext cx="6384960" cy="169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500"/>
              </a:lnSpc>
              <a:tabLst>
                <a:tab pos="0" algn="l"/>
              </a:tabLst>
            </a:pPr>
            <a:r>
              <a:rPr lang="en-US" sz="939" b="0" u="none" strike="noStrike">
                <a:solidFill>
                  <a:srgbClr val="E2E8F0"/>
                </a:solidFill>
                <a:effectLst/>
                <a:uFillTx/>
                <a:latin typeface="DM Sans"/>
                <a:ea typeface="DM Sans"/>
              </a:rPr>
              <a:t> </a:t>
            </a:r>
            <a:r>
              <a:rPr lang="en-US" sz="939" b="0" u="none" strike="noStrike">
                <a:solidFill>
                  <a:srgbClr val="7A8AA3"/>
                </a:solidFill>
                <a:effectLst/>
                <a:uFillTx/>
                <a:latin typeface="DM Sans"/>
                <a:ea typeface="DM Sans"/>
              </a:rPr>
              <a:t>#!/bin/bash — /usr/local/bin/sync-to-s3.sh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500"/>
              </a:lnSpc>
              <a:tabLst>
                <a:tab pos="0" algn="l"/>
              </a:tabLst>
            </a:pPr>
            <a:r>
              <a:rPr lang="en-US" sz="939" b="0" u="none" strike="noStrike">
                <a:solidFill>
                  <a:srgbClr val="E2E8F0"/>
                </a:solidFill>
                <a:effectLst/>
                <a:uFillTx/>
                <a:latin typeface="DM Sans"/>
                <a:ea typeface="DM Sans"/>
              </a:rPr>
              <a:t> BUCKET=</a:t>
            </a:r>
            <a:r>
              <a:rPr lang="en-US" sz="939" b="0" u="none" strike="noStrike">
                <a:solidFill>
                  <a:srgbClr val="7EC8FF"/>
                </a:solidFill>
                <a:effectLst/>
                <a:uFillTx/>
                <a:latin typeface="DM Sans"/>
                <a:ea typeface="DM Sans"/>
              </a:rPr>
              <a:t>"safeshare-files-99"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500"/>
              </a:lnSpc>
              <a:tabLst>
                <a:tab pos="0" algn="l"/>
              </a:tabLst>
            </a:pPr>
            <a:r>
              <a:rPr lang="en-US" sz="939" b="0" u="none" strike="noStrike">
                <a:solidFill>
                  <a:srgbClr val="E2E8F0"/>
                </a:solidFill>
                <a:effectLst/>
                <a:uFillTx/>
                <a:latin typeface="DM Sans"/>
                <a:ea typeface="DM Sans"/>
              </a:rPr>
              <a:t> DIR=</a:t>
            </a:r>
            <a:r>
              <a:rPr lang="en-US" sz="939" b="0" u="none" strike="noStrike">
                <a:solidFill>
                  <a:srgbClr val="7EC8FF"/>
                </a:solidFill>
                <a:effectLst/>
                <a:uFillTx/>
                <a:latin typeface="DM Sans"/>
                <a:ea typeface="DM Sans"/>
              </a:rPr>
              <a:t>"/home/ec2-user/uploads"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500"/>
              </a:lnSpc>
              <a:tabLst>
                <a:tab pos="0" algn="l"/>
              </a:tabLst>
            </a:pPr>
            <a:r>
              <a:rPr lang="en-US" sz="939" b="0" u="none" strike="noStrike">
                <a:solidFill>
                  <a:srgbClr val="E2E8F0"/>
                </a:solidFill>
                <a:effectLst/>
                <a:uFillTx/>
                <a:latin typeface="DM Sans"/>
                <a:ea typeface="DM Sans"/>
              </a:rPr>
              <a:t> LOG=</a:t>
            </a:r>
            <a:r>
              <a:rPr lang="en-US" sz="939" b="0" u="none" strike="noStrike">
                <a:solidFill>
                  <a:srgbClr val="7EC8FF"/>
                </a:solidFill>
                <a:effectLst/>
                <a:uFillTx/>
                <a:latin typeface="DM Sans"/>
                <a:ea typeface="DM Sans"/>
              </a:rPr>
              <a:t>"/var/log/s3-sync.log"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500"/>
              </a:lnSpc>
              <a:tabLst>
                <a:tab pos="0" algn="l"/>
              </a:tabLst>
            </a:pPr>
            <a:r>
              <a:rPr lang="en-US" sz="939" b="0" u="none" strike="noStrike">
                <a:solidFill>
                  <a:srgbClr val="E2E8F0"/>
                </a:solidFill>
                <a:effectLst/>
                <a:uFillTx/>
                <a:latin typeface="DM Sans"/>
                <a:ea typeface="DM Sans"/>
              </a:rPr>
              <a:t> </a:t>
            </a:r>
            <a:r>
              <a:rPr lang="en-US" sz="939" b="0" u="none" strike="noStrike">
                <a:solidFill>
                  <a:srgbClr val="7A8AA3"/>
                </a:solidFill>
                <a:effectLst/>
                <a:uFillTx/>
                <a:latin typeface="DM Sans"/>
                <a:ea typeface="DM Sans"/>
              </a:rPr>
              <a:t># Bidirectional — keeps all nodes in sync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500"/>
              </a:lnSpc>
              <a:tabLst>
                <a:tab pos="0" algn="l"/>
              </a:tabLst>
            </a:pPr>
            <a:r>
              <a:rPr lang="en-US" sz="939" b="0" u="none" strike="noStrike">
                <a:solidFill>
                  <a:srgbClr val="E2E8F0"/>
                </a:solidFill>
                <a:effectLst/>
                <a:uFillTx/>
                <a:latin typeface="DM Sans"/>
                <a:ea typeface="DM Sans"/>
              </a:rPr>
              <a:t> </a:t>
            </a:r>
            <a:r>
              <a:rPr lang="en-US" sz="939" b="0" u="none" strike="noStrike">
                <a:solidFill>
                  <a:srgbClr val="A0C72A"/>
                </a:solidFill>
                <a:effectLst/>
                <a:uFillTx/>
                <a:latin typeface="DM Sans"/>
                <a:ea typeface="DM Sans"/>
              </a:rPr>
              <a:t>aws s3 sync</a:t>
            </a:r>
            <a:r>
              <a:rPr lang="en-US" sz="939" b="0" u="none" strike="noStrike">
                <a:solidFill>
                  <a:srgbClr val="E2E8F0"/>
                </a:solidFill>
                <a:effectLst/>
                <a:uFillTx/>
                <a:latin typeface="DM Sans"/>
                <a:ea typeface="DM Sans"/>
              </a:rPr>
              <a:t> $DIR s3://$BUCKET/ 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500"/>
              </a:lnSpc>
              <a:tabLst>
                <a:tab pos="0" algn="l"/>
              </a:tabLst>
            </a:pPr>
            <a:r>
              <a:rPr lang="en-US" sz="939" b="0" u="none" strike="noStrike">
                <a:solidFill>
                  <a:srgbClr val="E2E8F0"/>
                </a:solidFill>
                <a:effectLst/>
                <a:uFillTx/>
                <a:latin typeface="DM Sans"/>
                <a:ea typeface="DM Sans"/>
              </a:rPr>
              <a:t> </a:t>
            </a:r>
            <a:r>
              <a:rPr lang="en-US" sz="939" b="0" u="none" strike="noStrike">
                <a:solidFill>
                  <a:srgbClr val="A0C72A"/>
                </a:solidFill>
                <a:effectLst/>
                <a:uFillTx/>
                <a:latin typeface="DM Sans"/>
                <a:ea typeface="DM Sans"/>
              </a:rPr>
              <a:t>aws s3 sync</a:t>
            </a:r>
            <a:r>
              <a:rPr lang="en-US" sz="939" b="0" u="none" strike="noStrike">
                <a:solidFill>
                  <a:srgbClr val="E2E8F0"/>
                </a:solidFill>
                <a:effectLst/>
                <a:uFillTx/>
                <a:latin typeface="DM Sans"/>
                <a:ea typeface="DM Sans"/>
              </a:rPr>
              <a:t> s3://$BUCKET/ $DIR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500"/>
              </a:lnSpc>
              <a:tabLst>
                <a:tab pos="0" algn="l"/>
              </a:tabLst>
            </a:pPr>
            <a:r>
              <a:rPr lang="en-US" sz="939" b="0" u="none" strike="noStrike">
                <a:solidFill>
                  <a:srgbClr val="E2E8F0"/>
                </a:solidFill>
                <a:effectLst/>
                <a:uFillTx/>
                <a:latin typeface="DM Sans"/>
                <a:ea typeface="DM Sans"/>
              </a:rPr>
              <a:t> chmod -R 777 $DIR; chown -R ec2-user $DIR 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3"/>
          <p:cNvSpPr/>
          <p:nvPr/>
        </p:nvSpPr>
        <p:spPr>
          <a:xfrm>
            <a:off x="533520" y="2280600"/>
            <a:ext cx="6766200" cy="2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/>
            <a:endParaRPr lang="en-US" sz="939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65" name="Image 2" descr="preencoded.png"/>
          <p:cNvPicPr/>
          <p:nvPr/>
        </p:nvPicPr>
        <p:blipFill>
          <a:blip r:embed="rId3"/>
          <a:stretch/>
        </p:blipFill>
        <p:spPr>
          <a:xfrm>
            <a:off x="533520" y="4490280"/>
            <a:ext cx="3335040" cy="614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6" name="Text 4"/>
          <p:cNvSpPr/>
          <p:nvPr/>
        </p:nvSpPr>
        <p:spPr>
          <a:xfrm>
            <a:off x="676440" y="4623840"/>
            <a:ext cx="3049560" cy="1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ts val="1125"/>
              </a:lnSpc>
              <a:spcAft>
                <a:spcPts val="300"/>
              </a:spcAft>
              <a:tabLst>
                <a:tab pos="0" algn="l"/>
              </a:tabLst>
            </a:pPr>
            <a:r>
              <a:rPr lang="en-US" sz="750" b="1" u="none" spc="60" strike="noStrike">
                <a:solidFill>
                  <a:srgbClr val="6B7A91"/>
                </a:solidFill>
                <a:effectLst/>
                <a:uFillTx/>
                <a:latin typeface="DM Sans"/>
                <a:ea typeface="DM Sans"/>
              </a:rPr>
              <a:t>CRON SCHEDULE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5"/>
          <p:cNvSpPr/>
          <p:nvPr/>
        </p:nvSpPr>
        <p:spPr>
          <a:xfrm>
            <a:off x="676440" y="4804920"/>
            <a:ext cx="3049560" cy="17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ts val="1463"/>
              </a:lnSpc>
              <a:tabLst>
                <a:tab pos="0" algn="l"/>
              </a:tabLst>
            </a:pPr>
            <a:r>
              <a:rPr lang="en-US" sz="980" b="1" u="none" strike="noStrike">
                <a:solidFill>
                  <a:srgbClr val="1A2433"/>
                </a:solidFill>
                <a:effectLst/>
                <a:uFillTx/>
                <a:latin typeface="Plus Jakarta Sans"/>
                <a:ea typeface="Plus Jakarta Sans"/>
              </a:rPr>
              <a:t>* * * * * — </a:t>
            </a:r>
            <a:r>
              <a:rPr lang="en-US" sz="980" b="1" u="none" strike="noStrike">
                <a:solidFill>
                  <a:srgbClr val="1A2433"/>
                </a:solidFill>
                <a:effectLst/>
                <a:uFillTx/>
                <a:latin typeface="Plus Jakarta Sans"/>
                <a:ea typeface="Plus Jakarta Sans"/>
              </a:rPr>
              <a:t>every 60s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8" name="Image 3" descr="preencoded.png"/>
          <p:cNvPicPr/>
          <p:nvPr/>
        </p:nvPicPr>
        <p:blipFill>
          <a:blip r:embed="rId4"/>
          <a:stretch/>
        </p:blipFill>
        <p:spPr>
          <a:xfrm>
            <a:off x="3964320" y="4490280"/>
            <a:ext cx="3335400" cy="614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9" name="Text 6"/>
          <p:cNvSpPr/>
          <p:nvPr/>
        </p:nvSpPr>
        <p:spPr>
          <a:xfrm>
            <a:off x="4107240" y="4623840"/>
            <a:ext cx="3049560" cy="1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ts val="1125"/>
              </a:lnSpc>
              <a:spcAft>
                <a:spcPts val="300"/>
              </a:spcAft>
              <a:tabLst>
                <a:tab pos="0" algn="l"/>
              </a:tabLst>
            </a:pPr>
            <a:r>
              <a:rPr lang="en-US" sz="750" b="1" u="none" spc="60" strike="noStrike">
                <a:solidFill>
                  <a:srgbClr val="6B7A91"/>
                </a:solidFill>
                <a:effectLst/>
                <a:uFillTx/>
                <a:latin typeface="DM Sans"/>
                <a:ea typeface="DM Sans"/>
              </a:rPr>
              <a:t>LOG FILE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7"/>
          <p:cNvSpPr/>
          <p:nvPr/>
        </p:nvSpPr>
        <p:spPr>
          <a:xfrm>
            <a:off x="4107240" y="4804920"/>
            <a:ext cx="3049560" cy="17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ts val="1463"/>
              </a:lnSpc>
              <a:tabLst>
                <a:tab pos="0" algn="l"/>
              </a:tabLst>
            </a:pPr>
            <a:r>
              <a:rPr lang="en-US" sz="980" b="1" u="none" strike="noStrike">
                <a:solidFill>
                  <a:srgbClr val="1A2433"/>
                </a:solidFill>
                <a:effectLst/>
                <a:uFillTx/>
                <a:latin typeface="Plus Jakarta Sans"/>
                <a:ea typeface="Plus Jakarta Sans"/>
              </a:rPr>
              <a:t>/var/log/s3-sync.log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1" name="Image 4" descr="preencoded.png"/>
          <p:cNvPicPr/>
          <p:nvPr/>
        </p:nvPicPr>
        <p:blipFill>
          <a:blip r:embed="rId5"/>
          <a:stretch/>
        </p:blipFill>
        <p:spPr>
          <a:xfrm>
            <a:off x="7528320" y="870480"/>
            <a:ext cx="4663080" cy="5987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2" name="Image 5" descr="preencoded.png"/>
          <p:cNvPicPr/>
          <p:nvPr/>
        </p:nvPicPr>
        <p:blipFill>
          <a:blip r:embed="rId6"/>
          <a:stretch/>
        </p:blipFill>
        <p:spPr>
          <a:xfrm>
            <a:off x="7804800" y="1902960"/>
            <a:ext cx="4120200" cy="1523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3" name="Image 6" descr="preencoded.png"/>
          <p:cNvPicPr/>
          <p:nvPr/>
        </p:nvPicPr>
        <p:blipFill>
          <a:blip r:embed="rId7"/>
          <a:stretch/>
        </p:blipFill>
        <p:spPr>
          <a:xfrm>
            <a:off x="7804800" y="1902960"/>
            <a:ext cx="4120200" cy="1523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4" name="Image 7" descr="preencoded.png"/>
          <p:cNvPicPr/>
          <p:nvPr/>
        </p:nvPicPr>
        <p:blipFill>
          <a:blip r:embed="rId8"/>
          <a:stretch/>
        </p:blipFill>
        <p:spPr>
          <a:xfrm>
            <a:off x="7804800" y="1902960"/>
            <a:ext cx="4120200" cy="1523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5" name="Text 8"/>
          <p:cNvSpPr/>
          <p:nvPr/>
        </p:nvSpPr>
        <p:spPr>
          <a:xfrm>
            <a:off x="7938000" y="3117600"/>
            <a:ext cx="3853440" cy="17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ts val="1463"/>
              </a:lnSpc>
              <a:tabLst>
                <a:tab pos="0" algn="l"/>
              </a:tabLst>
            </a:pPr>
            <a:r>
              <a:rPr lang="en-US" sz="980" b="1" u="none" strike="noStrike">
                <a:solidFill>
                  <a:srgbClr val="FFFFFF"/>
                </a:solidFill>
                <a:effectLst/>
                <a:uFillTx/>
                <a:latin typeface="DM Sans"/>
                <a:ea typeface="DM Sans"/>
              </a:rPr>
              <a:t>s</a:t>
            </a:r>
            <a:r>
              <a:rPr lang="en-US" sz="980" b="1" u="none" strike="noStrike">
                <a:solidFill>
                  <a:srgbClr val="FFFFFF"/>
                </a:solidFill>
                <a:effectLst/>
                <a:uFillTx/>
                <a:latin typeface="DM Sans"/>
                <a:ea typeface="DM Sans"/>
              </a:rPr>
              <a:t>a</a:t>
            </a:r>
            <a:r>
              <a:rPr lang="en-US" sz="980" b="1" u="none" strike="noStrike">
                <a:solidFill>
                  <a:srgbClr val="FFFFFF"/>
                </a:solidFill>
                <a:effectLst/>
                <a:uFillTx/>
                <a:latin typeface="DM Sans"/>
                <a:ea typeface="DM Sans"/>
              </a:rPr>
              <a:t>f</a:t>
            </a:r>
            <a:r>
              <a:rPr lang="en-US" sz="980" b="1" u="none" strike="noStrike">
                <a:solidFill>
                  <a:srgbClr val="FFFFFF"/>
                </a:solidFill>
                <a:effectLst/>
                <a:uFillTx/>
                <a:latin typeface="DM Sans"/>
                <a:ea typeface="DM Sans"/>
              </a:rPr>
              <a:t>e</a:t>
            </a:r>
            <a:r>
              <a:rPr lang="en-US" sz="980" b="1" u="none" strike="noStrike">
                <a:solidFill>
                  <a:srgbClr val="FFFFFF"/>
                </a:solidFill>
                <a:effectLst/>
                <a:uFillTx/>
                <a:latin typeface="DM Sans"/>
                <a:ea typeface="DM Sans"/>
              </a:rPr>
              <a:t>s</a:t>
            </a:r>
            <a:r>
              <a:rPr lang="en-US" sz="980" b="1" u="none" strike="noStrike">
                <a:solidFill>
                  <a:srgbClr val="FFFFFF"/>
                </a:solidFill>
                <a:effectLst/>
                <a:uFillTx/>
                <a:latin typeface="DM Sans"/>
                <a:ea typeface="DM Sans"/>
              </a:rPr>
              <a:t>h</a:t>
            </a:r>
            <a:r>
              <a:rPr lang="en-US" sz="980" b="1" u="none" strike="noStrike">
                <a:solidFill>
                  <a:srgbClr val="FFFFFF"/>
                </a:solidFill>
                <a:effectLst/>
                <a:uFillTx/>
                <a:latin typeface="DM Sans"/>
                <a:ea typeface="DM Sans"/>
              </a:rPr>
              <a:t>a</a:t>
            </a:r>
            <a:r>
              <a:rPr lang="en-US" sz="980" b="1" u="none" strike="noStrike">
                <a:solidFill>
                  <a:srgbClr val="FFFFFF"/>
                </a:solidFill>
                <a:effectLst/>
                <a:uFillTx/>
                <a:latin typeface="DM Sans"/>
                <a:ea typeface="DM Sans"/>
              </a:rPr>
              <a:t>r</a:t>
            </a:r>
            <a:r>
              <a:rPr lang="en-US" sz="980" b="1" u="none" strike="noStrike">
                <a:solidFill>
                  <a:srgbClr val="FFFFFF"/>
                </a:solidFill>
                <a:effectLst/>
                <a:uFillTx/>
                <a:latin typeface="DM Sans"/>
                <a:ea typeface="DM Sans"/>
              </a:rPr>
              <a:t>e</a:t>
            </a:r>
            <a:r>
              <a:rPr lang="en-US" sz="980" b="1" u="none" strike="noStrike">
                <a:solidFill>
                  <a:srgbClr val="FFFFFF"/>
                </a:solidFill>
                <a:effectLst/>
                <a:uFillTx/>
                <a:latin typeface="DM Sans"/>
                <a:ea typeface="DM Sans"/>
              </a:rPr>
              <a:t>-</a:t>
            </a:r>
            <a:r>
              <a:rPr lang="en-US" sz="980" b="1" u="none" strike="noStrike">
                <a:solidFill>
                  <a:srgbClr val="FFFFFF"/>
                </a:solidFill>
                <a:effectLst/>
                <a:uFillTx/>
                <a:latin typeface="DM Sans"/>
                <a:ea typeface="DM Sans"/>
              </a:rPr>
              <a:t>f</a:t>
            </a:r>
            <a:r>
              <a:rPr lang="en-US" sz="980" b="1" u="none" strike="noStrike">
                <a:solidFill>
                  <a:srgbClr val="FFFFFF"/>
                </a:solidFill>
                <a:effectLst/>
                <a:uFillTx/>
                <a:latin typeface="DM Sans"/>
                <a:ea typeface="DM Sans"/>
              </a:rPr>
              <a:t>i</a:t>
            </a:r>
            <a:r>
              <a:rPr lang="en-US" sz="980" b="1" u="none" strike="noStrike">
                <a:solidFill>
                  <a:srgbClr val="FFFFFF"/>
                </a:solidFill>
                <a:effectLst/>
                <a:uFillTx/>
                <a:latin typeface="DM Sans"/>
                <a:ea typeface="DM Sans"/>
              </a:rPr>
              <a:t>l</a:t>
            </a:r>
            <a:r>
              <a:rPr lang="en-US" sz="980" b="1" u="none" strike="noStrike">
                <a:solidFill>
                  <a:srgbClr val="FFFFFF"/>
                </a:solidFill>
                <a:effectLst/>
                <a:uFillTx/>
                <a:latin typeface="DM Sans"/>
                <a:ea typeface="DM Sans"/>
              </a:rPr>
              <a:t>e</a:t>
            </a:r>
            <a:r>
              <a:rPr lang="en-US" sz="980" b="1" u="none" strike="noStrike">
                <a:solidFill>
                  <a:srgbClr val="FFFFFF"/>
                </a:solidFill>
                <a:effectLst/>
                <a:uFillTx/>
                <a:latin typeface="DM Sans"/>
                <a:ea typeface="DM Sans"/>
              </a:rPr>
              <a:t>s</a:t>
            </a:r>
            <a:r>
              <a:rPr lang="en-US" sz="980" b="1" u="none" strike="noStrike">
                <a:solidFill>
                  <a:srgbClr val="FFFFFF"/>
                </a:solidFill>
                <a:effectLst/>
                <a:uFillTx/>
                <a:latin typeface="DM Sans"/>
                <a:ea typeface="DM Sans"/>
              </a:rPr>
              <a:t>-</a:t>
            </a:r>
            <a:r>
              <a:rPr lang="en-US" sz="980" b="1" u="none" strike="noStrike">
                <a:solidFill>
                  <a:srgbClr val="FFFFFF"/>
                </a:solidFill>
                <a:effectLst/>
                <a:uFillTx/>
                <a:latin typeface="DM Sans"/>
                <a:ea typeface="DM Sans"/>
              </a:rPr>
              <a:t>9</a:t>
            </a:r>
            <a:r>
              <a:rPr lang="en-US" sz="980" b="1" u="none" strike="noStrike">
                <a:solidFill>
                  <a:srgbClr val="FFFFFF"/>
                </a:solidFill>
                <a:effectLst/>
                <a:uFillTx/>
                <a:latin typeface="DM Sans"/>
                <a:ea typeface="DM Sans"/>
              </a:rPr>
              <a:t>9</a:t>
            </a:r>
            <a:r>
              <a:rPr lang="en-US" sz="980" b="1" u="none" strike="noStrike">
                <a:solidFill>
                  <a:srgbClr val="FFFFFF"/>
                </a:solidFill>
                <a:effectLst/>
                <a:uFillTx/>
                <a:latin typeface="DM Sans"/>
                <a:ea typeface="DM Sans"/>
              </a:rPr>
              <a:t> </a:t>
            </a:r>
            <a:r>
              <a:rPr lang="en-US" sz="980" b="1" u="none" strike="noStrike">
                <a:solidFill>
                  <a:srgbClr val="FFFFFF"/>
                </a:solidFill>
                <a:effectLst/>
                <a:uFillTx/>
                <a:latin typeface="DM Sans"/>
                <a:ea typeface="DM Sans"/>
              </a:rPr>
              <a:t>•</a:t>
            </a:r>
            <a:r>
              <a:rPr lang="en-US" sz="980" b="1" u="none" strike="noStrike">
                <a:solidFill>
                  <a:srgbClr val="FFFFFF"/>
                </a:solidFill>
                <a:effectLst/>
                <a:uFillTx/>
                <a:latin typeface="DM Sans"/>
                <a:ea typeface="DM Sans"/>
              </a:rPr>
              <a:t> </a:t>
            </a:r>
            <a:r>
              <a:rPr lang="en-US" sz="980" b="1" u="none" strike="noStrike">
                <a:solidFill>
                  <a:srgbClr val="FFFFFF"/>
                </a:solidFill>
                <a:effectLst/>
                <a:uFillTx/>
                <a:latin typeface="DM Sans"/>
                <a:ea typeface="DM Sans"/>
              </a:rPr>
              <a:t>p</a:t>
            </a:r>
            <a:r>
              <a:rPr lang="en-US" sz="980" b="1" u="none" strike="noStrike">
                <a:solidFill>
                  <a:srgbClr val="FFFFFF"/>
                </a:solidFill>
                <a:effectLst/>
                <a:uFillTx/>
                <a:latin typeface="DM Sans"/>
                <a:ea typeface="DM Sans"/>
              </a:rPr>
              <a:t>e</a:t>
            </a:r>
            <a:r>
              <a:rPr lang="en-US" sz="980" b="1" u="none" strike="noStrike">
                <a:solidFill>
                  <a:srgbClr val="FFFFFF"/>
                </a:solidFill>
                <a:effectLst/>
                <a:uFillTx/>
                <a:latin typeface="DM Sans"/>
                <a:ea typeface="DM Sans"/>
              </a:rPr>
              <a:t>r</a:t>
            </a:r>
            <a:r>
              <a:rPr lang="en-US" sz="980" b="1" u="none" strike="noStrike">
                <a:solidFill>
                  <a:srgbClr val="FFFFFF"/>
                </a:solidFill>
                <a:effectLst/>
                <a:uFillTx/>
                <a:latin typeface="DM Sans"/>
                <a:ea typeface="DM Sans"/>
              </a:rPr>
              <a:t>s</a:t>
            </a:r>
            <a:r>
              <a:rPr lang="en-US" sz="980" b="1" u="none" strike="noStrike">
                <a:solidFill>
                  <a:srgbClr val="FFFFFF"/>
                </a:solidFill>
                <a:effectLst/>
                <a:uFillTx/>
                <a:latin typeface="DM Sans"/>
                <a:ea typeface="DM Sans"/>
              </a:rPr>
              <a:t>i</a:t>
            </a:r>
            <a:r>
              <a:rPr lang="en-US" sz="980" b="1" u="none" strike="noStrike">
                <a:solidFill>
                  <a:srgbClr val="FFFFFF"/>
                </a:solidFill>
                <a:effectLst/>
                <a:uFillTx/>
                <a:latin typeface="DM Sans"/>
                <a:ea typeface="DM Sans"/>
              </a:rPr>
              <a:t>s</a:t>
            </a:r>
            <a:r>
              <a:rPr lang="en-US" sz="980" b="1" u="none" strike="noStrike">
                <a:solidFill>
                  <a:srgbClr val="FFFFFF"/>
                </a:solidFill>
                <a:effectLst/>
                <a:uFillTx/>
                <a:latin typeface="DM Sans"/>
                <a:ea typeface="DM Sans"/>
              </a:rPr>
              <a:t>t</a:t>
            </a:r>
            <a:r>
              <a:rPr lang="en-US" sz="980" b="1" u="none" strike="noStrike">
                <a:solidFill>
                  <a:srgbClr val="FFFFFF"/>
                </a:solidFill>
                <a:effectLst/>
                <a:uFillTx/>
                <a:latin typeface="DM Sans"/>
                <a:ea typeface="DM Sans"/>
              </a:rPr>
              <a:t>e</a:t>
            </a:r>
            <a:r>
              <a:rPr lang="en-US" sz="980" b="1" u="none" strike="noStrike">
                <a:solidFill>
                  <a:srgbClr val="FFFFFF"/>
                </a:solidFill>
                <a:effectLst/>
                <a:uFillTx/>
                <a:latin typeface="DM Sans"/>
                <a:ea typeface="DM Sans"/>
              </a:rPr>
              <a:t>n</a:t>
            </a:r>
            <a:r>
              <a:rPr lang="en-US" sz="980" b="1" u="none" strike="noStrike">
                <a:solidFill>
                  <a:srgbClr val="FFFFFF"/>
                </a:solidFill>
                <a:effectLst/>
                <a:uFillTx/>
                <a:latin typeface="DM Sans"/>
                <a:ea typeface="DM Sans"/>
              </a:rPr>
              <a:t>t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Shape 9"/>
          <p:cNvSpPr/>
          <p:nvPr/>
        </p:nvSpPr>
        <p:spPr>
          <a:xfrm>
            <a:off x="7800840" y="3600360"/>
            <a:ext cx="4123800" cy="590040"/>
          </a:xfrm>
          <a:prstGeom prst="roundRect">
            <a:avLst>
              <a:gd name="adj" fmla="val 19355"/>
            </a:avLst>
          </a:prstGeom>
          <a:solidFill>
            <a:srgbClr val="EEE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Shape 10"/>
          <p:cNvSpPr/>
          <p:nvPr/>
        </p:nvSpPr>
        <p:spPr>
          <a:xfrm>
            <a:off x="7934400" y="3714840"/>
            <a:ext cx="304560" cy="3045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0">
            <a:noFill/>
          </a:ln>
          <a:effectLst>
            <a:outerShdw algn="bl" blurRad="57240" dir="5400000" dist="19080" kx="0" ky="0" rotWithShape="0" sx="100000" sy="100000">
              <a:srgbClr val="000000">
                <a:alpha val="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8" name="Image 8" descr="preencoded.png"/>
          <p:cNvPicPr/>
          <p:nvPr/>
        </p:nvPicPr>
        <p:blipFill>
          <a:blip r:embed="rId9"/>
          <a:stretch/>
        </p:blipFill>
        <p:spPr>
          <a:xfrm>
            <a:off x="8031960" y="3798720"/>
            <a:ext cx="116280" cy="132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9" name="Text 11"/>
          <p:cNvSpPr/>
          <p:nvPr/>
        </p:nvSpPr>
        <p:spPr>
          <a:xfrm>
            <a:off x="8357040" y="3722400"/>
            <a:ext cx="3292560" cy="17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ts val="1463"/>
              </a:lnSpc>
              <a:spcAft>
                <a:spcPts val="150"/>
              </a:spcAft>
              <a:tabLst>
                <a:tab pos="0" algn="l"/>
              </a:tabLst>
            </a:pPr>
            <a:r>
              <a:rPr lang="en-US" sz="980" b="1" u="none" strike="noStrike">
                <a:solidFill>
                  <a:srgbClr val="1A2433"/>
                </a:solidFill>
                <a:effectLst/>
                <a:uFillTx/>
                <a:latin typeface="Plus Jakarta Sans"/>
                <a:ea typeface="Plus Jakarta Sans"/>
              </a:rPr>
              <a:t>Central persistent storage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12"/>
          <p:cNvSpPr/>
          <p:nvPr/>
        </p:nvSpPr>
        <p:spPr>
          <a:xfrm>
            <a:off x="8357040" y="3917520"/>
            <a:ext cx="3292560" cy="1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ts val="1208"/>
              </a:lnSpc>
              <a:tabLst>
                <a:tab pos="0" algn="l"/>
              </a:tabLst>
            </a:pPr>
            <a:r>
              <a:rPr lang="en-US" sz="860" b="0" u="none" strike="noStrike">
                <a:solidFill>
                  <a:srgbClr val="5A6B86"/>
                </a:solidFill>
                <a:effectLst/>
                <a:uFillTx/>
                <a:latin typeface="DM Sans"/>
                <a:ea typeface="DM Sans"/>
              </a:rPr>
              <a:t>S3 survives instance replacement. No EFS cost, native versioning.</a:t>
            </a:r>
            <a:endParaRPr lang="en-US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Shape 13"/>
          <p:cNvSpPr/>
          <p:nvPr/>
        </p:nvSpPr>
        <p:spPr>
          <a:xfrm>
            <a:off x="7800840" y="4295880"/>
            <a:ext cx="4123800" cy="742680"/>
          </a:xfrm>
          <a:prstGeom prst="roundRect">
            <a:avLst>
              <a:gd name="adj" fmla="val 15385"/>
            </a:avLst>
          </a:prstGeom>
          <a:solidFill>
            <a:srgbClr val="EEE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Shape 14"/>
          <p:cNvSpPr/>
          <p:nvPr/>
        </p:nvSpPr>
        <p:spPr>
          <a:xfrm>
            <a:off x="7934400" y="4410000"/>
            <a:ext cx="304560" cy="3045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0">
            <a:noFill/>
          </a:ln>
          <a:effectLst>
            <a:outerShdw algn="bl" blurRad="57240" dir="5400000" dist="19080" kx="0" ky="0" rotWithShape="0" sx="100000" sy="100000">
              <a:srgbClr val="000000">
                <a:alpha val="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3" name="Image 9" descr="preencoded.png"/>
          <p:cNvPicPr/>
          <p:nvPr/>
        </p:nvPicPr>
        <p:blipFill>
          <a:blip r:embed="rId10"/>
          <a:stretch/>
        </p:blipFill>
        <p:spPr>
          <a:xfrm>
            <a:off x="8023680" y="4499640"/>
            <a:ext cx="132840" cy="132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4" name="Text 15"/>
          <p:cNvSpPr/>
          <p:nvPr/>
        </p:nvSpPr>
        <p:spPr>
          <a:xfrm>
            <a:off x="8357040" y="4423320"/>
            <a:ext cx="3434400" cy="17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ts val="1463"/>
              </a:lnSpc>
              <a:spcAft>
                <a:spcPts val="150"/>
              </a:spcAft>
              <a:tabLst>
                <a:tab pos="0" algn="l"/>
              </a:tabLst>
            </a:pPr>
            <a:r>
              <a:rPr lang="en-US" sz="980" b="1" u="none" strike="noStrike">
                <a:solidFill>
                  <a:srgbClr val="1A2433"/>
                </a:solidFill>
                <a:effectLst/>
                <a:uFillTx/>
                <a:latin typeface="Plus Jakarta Sans"/>
                <a:ea typeface="Plus Jakarta Sans"/>
              </a:rPr>
              <a:t>B</a:t>
            </a:r>
            <a:r>
              <a:rPr lang="en-US" sz="980" b="1" u="none" strike="noStrike">
                <a:solidFill>
                  <a:srgbClr val="1A2433"/>
                </a:solidFill>
                <a:effectLst/>
                <a:uFillTx/>
                <a:latin typeface="Plus Jakarta Sans"/>
                <a:ea typeface="Plus Jakarta Sans"/>
              </a:rPr>
              <a:t>i</a:t>
            </a:r>
            <a:r>
              <a:rPr lang="en-US" sz="980" b="1" u="none" strike="noStrike">
                <a:solidFill>
                  <a:srgbClr val="1A2433"/>
                </a:solidFill>
                <a:effectLst/>
                <a:uFillTx/>
                <a:latin typeface="Plus Jakarta Sans"/>
                <a:ea typeface="Plus Jakarta Sans"/>
              </a:rPr>
              <a:t>d</a:t>
            </a:r>
            <a:r>
              <a:rPr lang="en-US" sz="980" b="1" u="none" strike="noStrike">
                <a:solidFill>
                  <a:srgbClr val="1A2433"/>
                </a:solidFill>
                <a:effectLst/>
                <a:uFillTx/>
                <a:latin typeface="Plus Jakarta Sans"/>
                <a:ea typeface="Plus Jakarta Sans"/>
              </a:rPr>
              <a:t>i</a:t>
            </a:r>
            <a:r>
              <a:rPr lang="en-US" sz="980" b="1" u="none" strike="noStrike">
                <a:solidFill>
                  <a:srgbClr val="1A2433"/>
                </a:solidFill>
                <a:effectLst/>
                <a:uFillTx/>
                <a:latin typeface="Plus Jakarta Sans"/>
                <a:ea typeface="Plus Jakarta Sans"/>
              </a:rPr>
              <a:t>r</a:t>
            </a:r>
            <a:r>
              <a:rPr lang="en-US" sz="980" b="1" u="none" strike="noStrike">
                <a:solidFill>
                  <a:srgbClr val="1A2433"/>
                </a:solidFill>
                <a:effectLst/>
                <a:uFillTx/>
                <a:latin typeface="Plus Jakarta Sans"/>
                <a:ea typeface="Plus Jakarta Sans"/>
              </a:rPr>
              <a:t>e</a:t>
            </a:r>
            <a:r>
              <a:rPr lang="en-US" sz="980" b="1" u="none" strike="noStrike">
                <a:solidFill>
                  <a:srgbClr val="1A2433"/>
                </a:solidFill>
                <a:effectLst/>
                <a:uFillTx/>
                <a:latin typeface="Plus Jakarta Sans"/>
                <a:ea typeface="Plus Jakarta Sans"/>
              </a:rPr>
              <a:t>c</a:t>
            </a:r>
            <a:r>
              <a:rPr lang="en-US" sz="980" b="1" u="none" strike="noStrike">
                <a:solidFill>
                  <a:srgbClr val="1A2433"/>
                </a:solidFill>
                <a:effectLst/>
                <a:uFillTx/>
                <a:latin typeface="Plus Jakarta Sans"/>
                <a:ea typeface="Plus Jakarta Sans"/>
              </a:rPr>
              <a:t>t</a:t>
            </a:r>
            <a:r>
              <a:rPr lang="en-US" sz="980" b="1" u="none" strike="noStrike">
                <a:solidFill>
                  <a:srgbClr val="1A2433"/>
                </a:solidFill>
                <a:effectLst/>
                <a:uFillTx/>
                <a:latin typeface="Plus Jakarta Sans"/>
                <a:ea typeface="Plus Jakarta Sans"/>
              </a:rPr>
              <a:t>i</a:t>
            </a:r>
            <a:r>
              <a:rPr lang="en-US" sz="980" b="1" u="none" strike="noStrike">
                <a:solidFill>
                  <a:srgbClr val="1A2433"/>
                </a:solidFill>
                <a:effectLst/>
                <a:uFillTx/>
                <a:latin typeface="Plus Jakarta Sans"/>
                <a:ea typeface="Plus Jakarta Sans"/>
              </a:rPr>
              <a:t>o</a:t>
            </a:r>
            <a:r>
              <a:rPr lang="en-US" sz="980" b="1" u="none" strike="noStrike">
                <a:solidFill>
                  <a:srgbClr val="1A2433"/>
                </a:solidFill>
                <a:effectLst/>
                <a:uFillTx/>
                <a:latin typeface="Plus Jakarta Sans"/>
                <a:ea typeface="Plus Jakarta Sans"/>
              </a:rPr>
              <a:t>n</a:t>
            </a:r>
            <a:r>
              <a:rPr lang="en-US" sz="980" b="1" u="none" strike="noStrike">
                <a:solidFill>
                  <a:srgbClr val="1A2433"/>
                </a:solidFill>
                <a:effectLst/>
                <a:uFillTx/>
                <a:latin typeface="Plus Jakarta Sans"/>
                <a:ea typeface="Plus Jakarta Sans"/>
              </a:rPr>
              <a:t>a</a:t>
            </a:r>
            <a:r>
              <a:rPr lang="en-US" sz="980" b="1" u="none" strike="noStrike">
                <a:solidFill>
                  <a:srgbClr val="1A2433"/>
                </a:solidFill>
                <a:effectLst/>
                <a:uFillTx/>
                <a:latin typeface="Plus Jakarta Sans"/>
                <a:ea typeface="Plus Jakarta Sans"/>
              </a:rPr>
              <a:t>l</a:t>
            </a:r>
            <a:r>
              <a:rPr lang="en-US" sz="980" b="1" u="none" strike="noStrike">
                <a:solidFill>
                  <a:srgbClr val="1A2433"/>
                </a:solidFill>
                <a:effectLst/>
                <a:uFillTx/>
                <a:latin typeface="Plus Jakarta Sans"/>
                <a:ea typeface="Plus Jakarta Sans"/>
              </a:rPr>
              <a:t> </a:t>
            </a:r>
            <a:r>
              <a:rPr lang="en-US" sz="980" b="1" u="none" strike="noStrike">
                <a:solidFill>
                  <a:srgbClr val="1A2433"/>
                </a:solidFill>
                <a:effectLst/>
                <a:uFillTx/>
                <a:latin typeface="Plus Jakarta Sans"/>
                <a:ea typeface="Plus Jakarta Sans"/>
              </a:rPr>
              <a:t>s</a:t>
            </a:r>
            <a:r>
              <a:rPr lang="en-US" sz="980" b="1" u="none" strike="noStrike">
                <a:solidFill>
                  <a:srgbClr val="1A2433"/>
                </a:solidFill>
                <a:effectLst/>
                <a:uFillTx/>
                <a:latin typeface="Plus Jakarta Sans"/>
                <a:ea typeface="Plus Jakarta Sans"/>
              </a:rPr>
              <a:t>y</a:t>
            </a:r>
            <a:r>
              <a:rPr lang="en-US" sz="980" b="1" u="none" strike="noStrike">
                <a:solidFill>
                  <a:srgbClr val="1A2433"/>
                </a:solidFill>
                <a:effectLst/>
                <a:uFillTx/>
                <a:latin typeface="Plus Jakarta Sans"/>
                <a:ea typeface="Plus Jakarta Sans"/>
              </a:rPr>
              <a:t>n</a:t>
            </a:r>
            <a:r>
              <a:rPr lang="en-US" sz="980" b="1" u="none" strike="noStrike">
                <a:solidFill>
                  <a:srgbClr val="1A2433"/>
                </a:solidFill>
                <a:effectLst/>
                <a:uFillTx/>
                <a:latin typeface="Plus Jakarta Sans"/>
                <a:ea typeface="Plus Jakarta Sans"/>
              </a:rPr>
              <a:t>c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16"/>
          <p:cNvSpPr/>
          <p:nvPr/>
        </p:nvSpPr>
        <p:spPr>
          <a:xfrm>
            <a:off x="8357040" y="4618440"/>
            <a:ext cx="3434400" cy="30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208"/>
              </a:lnSpc>
              <a:tabLst>
                <a:tab pos="0" algn="l"/>
              </a:tabLst>
            </a:pPr>
            <a:r>
              <a:rPr lang="en-US" sz="860" b="0" u="none" strike="noStrike">
                <a:solidFill>
                  <a:srgbClr val="5A6B86"/>
                </a:solidFill>
                <a:effectLst/>
                <a:uFillTx/>
                <a:latin typeface="DM Sans"/>
                <a:ea typeface="DM Sans"/>
              </a:rPr>
              <a:t>Upload on any EC2 → S3 → all EC2s. Delete propagates with --delete flag could implement.</a:t>
            </a:r>
            <a:endParaRPr lang="en-US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Shape 17"/>
          <p:cNvSpPr/>
          <p:nvPr/>
        </p:nvSpPr>
        <p:spPr>
          <a:xfrm>
            <a:off x="7800840" y="5210280"/>
            <a:ext cx="4123800" cy="618840"/>
          </a:xfrm>
          <a:prstGeom prst="roundRect">
            <a:avLst>
              <a:gd name="adj" fmla="val 18462"/>
            </a:avLst>
          </a:prstGeom>
          <a:solidFill>
            <a:srgbClr val="1A243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" name="Shape 18"/>
          <p:cNvSpPr/>
          <p:nvPr/>
        </p:nvSpPr>
        <p:spPr>
          <a:xfrm>
            <a:off x="7953480" y="5343480"/>
            <a:ext cx="342720" cy="342720"/>
          </a:xfrm>
          <a:prstGeom prst="roundRect">
            <a:avLst>
              <a:gd name="adj" fmla="val 27778"/>
            </a:avLst>
          </a:prstGeom>
          <a:solidFill>
            <a:srgbClr val="A0C7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8" name="Image 10" descr="preencoded.png"/>
          <p:cNvPicPr/>
          <p:nvPr/>
        </p:nvPicPr>
        <p:blipFill>
          <a:blip r:embed="rId11"/>
          <a:stretch/>
        </p:blipFill>
        <p:spPr>
          <a:xfrm>
            <a:off x="8042760" y="5432400"/>
            <a:ext cx="171000" cy="171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9" name="Text 19"/>
          <p:cNvSpPr/>
          <p:nvPr/>
        </p:nvSpPr>
        <p:spPr>
          <a:xfrm>
            <a:off x="8414280" y="5353920"/>
            <a:ext cx="239256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ts val="1349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DM Sans"/>
                <a:ea typeface="DM Sans"/>
              </a:rPr>
              <a:t>Fix: cronie on AL2023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20"/>
          <p:cNvSpPr/>
          <p:nvPr/>
        </p:nvSpPr>
        <p:spPr>
          <a:xfrm>
            <a:off x="8414280" y="5544360"/>
            <a:ext cx="2392560" cy="14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ts val="1239"/>
              </a:lnSpc>
              <a:spcBef>
                <a:spcPts val="150"/>
              </a:spcBef>
              <a:tabLst>
                <a:tab pos="0" algn="l"/>
              </a:tabLst>
            </a:pPr>
            <a:r>
              <a:rPr lang="en-US" sz="820" b="0" u="none" strike="noStrike">
                <a:solidFill>
                  <a:srgbClr val="A0AEC0"/>
                </a:solidFill>
                <a:effectLst/>
                <a:uFillTx/>
                <a:latin typeface="DM Sans"/>
                <a:ea typeface="DM Sans"/>
              </a:rPr>
              <a:t>dnf install cronie + systemctl enable crond --now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EE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ext 0"/>
          <p:cNvSpPr/>
          <p:nvPr/>
        </p:nvSpPr>
        <p:spPr>
          <a:xfrm>
            <a:off x="533520" y="1857240"/>
            <a:ext cx="3718080" cy="76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2999"/>
              </a:lnSpc>
              <a:tabLst>
                <a:tab pos="0" algn="l"/>
              </a:tabLst>
            </a:pPr>
            <a:r>
              <a:rPr lang="en-US" sz="3000" b="1" u="none" spc="-60" strike="noStrike">
                <a:solidFill>
                  <a:srgbClr val="1A2433"/>
                </a:solidFill>
                <a:effectLst/>
                <a:uFillTx/>
                <a:latin typeface="Plus Jakarta Sans"/>
                <a:ea typeface="Plus Jakarta Sans"/>
              </a:rPr>
              <a:t>Private by design, secure via IAM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1"/>
          <p:cNvSpPr/>
          <p:nvPr/>
        </p:nvSpPr>
        <p:spPr>
          <a:xfrm>
            <a:off x="533520" y="2819520"/>
            <a:ext cx="371808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687"/>
              </a:lnSpc>
              <a:tabLst>
                <a:tab pos="0" algn="l"/>
              </a:tabLst>
            </a:pPr>
            <a:r>
              <a:rPr lang="en-US" sz="1130" b="0" u="none" strike="noStrike">
                <a:solidFill>
                  <a:srgbClr val="45566F"/>
                </a:solidFill>
                <a:effectLst/>
                <a:uFillTx/>
                <a:latin typeface="DM Sans"/>
                <a:ea typeface="DM Sans"/>
              </a:rPr>
              <a:t>EC2 instances have no public IP. All access and sync is controlled by least-privilege IAM role.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3" name="Image 0" descr="preencoded.png"/>
          <p:cNvPicPr/>
          <p:nvPr/>
        </p:nvPicPr>
        <p:blipFill>
          <a:blip r:embed="rId1"/>
          <a:stretch/>
        </p:blipFill>
        <p:spPr>
          <a:xfrm>
            <a:off x="380880" y="3238560"/>
            <a:ext cx="4023000" cy="1071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4" name="Shape 2"/>
          <p:cNvSpPr/>
          <p:nvPr/>
        </p:nvSpPr>
        <p:spPr>
          <a:xfrm>
            <a:off x="695160" y="3600360"/>
            <a:ext cx="342720" cy="342720"/>
          </a:xfrm>
          <a:prstGeom prst="roundRect">
            <a:avLst>
              <a:gd name="adj" fmla="val 27778"/>
            </a:avLst>
          </a:prstGeom>
          <a:solidFill>
            <a:srgbClr val="1A243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95" name="Image 1" descr="preencoded.png"/>
          <p:cNvPicPr/>
          <p:nvPr/>
        </p:nvPicPr>
        <p:blipFill>
          <a:blip r:embed="rId2"/>
          <a:stretch/>
        </p:blipFill>
        <p:spPr>
          <a:xfrm>
            <a:off x="800280" y="3697920"/>
            <a:ext cx="132840" cy="151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6" name="Text 3"/>
          <p:cNvSpPr/>
          <p:nvPr/>
        </p:nvSpPr>
        <p:spPr>
          <a:xfrm>
            <a:off x="1133640" y="3562200"/>
            <a:ext cx="2164680" cy="17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ts val="1463"/>
              </a:lnSpc>
              <a:tabLst>
                <a:tab pos="0" algn="l"/>
              </a:tabLst>
            </a:pPr>
            <a:r>
              <a:rPr lang="en-US" sz="980" b="1" u="none" strike="noStrike">
                <a:solidFill>
                  <a:srgbClr val="1A2433"/>
                </a:solidFill>
                <a:effectLst/>
                <a:uFillTx/>
                <a:latin typeface="DM Sans"/>
                <a:ea typeface="DM Sans"/>
              </a:rPr>
              <a:t>No public IP 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Text 4"/>
          <p:cNvSpPr/>
          <p:nvPr/>
        </p:nvSpPr>
        <p:spPr>
          <a:xfrm>
            <a:off x="1133640" y="3805200"/>
            <a:ext cx="216468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ts val="1349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D96"/>
                </a:solidFill>
                <a:effectLst/>
                <a:uFillTx/>
                <a:latin typeface="DM Sans"/>
                <a:ea typeface="DM Sans"/>
              </a:rPr>
              <a:t>Isolated private subnets 10.0.101/102.0/24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Shape 8"/>
          <p:cNvSpPr/>
          <p:nvPr/>
        </p:nvSpPr>
        <p:spPr>
          <a:xfrm>
            <a:off x="4819680" y="2000160"/>
            <a:ext cx="6838560" cy="694800"/>
          </a:xfrm>
          <a:prstGeom prst="roundRect">
            <a:avLst>
              <a:gd name="adj" fmla="val 19178"/>
            </a:avLst>
          </a:prstGeom>
          <a:solidFill>
            <a:srgbClr val="1A243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" name="Text 9"/>
          <p:cNvSpPr/>
          <p:nvPr/>
        </p:nvSpPr>
        <p:spPr>
          <a:xfrm>
            <a:off x="5013720" y="2159640"/>
            <a:ext cx="295164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ts val="18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Plus Jakarta Sans"/>
                <a:ea typeface="Plus Jakarta Sans"/>
              </a:rPr>
              <a:t>I</a:t>
            </a: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Plus Jakarta Sans"/>
                <a:ea typeface="Plus Jakarta Sans"/>
              </a:rPr>
              <a:t>A</a:t>
            </a: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Plus Jakarta Sans"/>
                <a:ea typeface="Plus Jakarta Sans"/>
              </a:rPr>
              <a:t>M</a:t>
            </a: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Plus Jakarta Sans"/>
                <a:ea typeface="Plus Jakarta Sans"/>
              </a:rPr>
              <a:t> </a:t>
            </a: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Plus Jakarta Sans"/>
                <a:ea typeface="Plus Jakarta Sans"/>
              </a:rPr>
              <a:t>R</a:t>
            </a: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Plus Jakarta Sans"/>
                <a:ea typeface="Plus Jakarta Sans"/>
              </a:rPr>
              <a:t>o</a:t>
            </a: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Plus Jakarta Sans"/>
                <a:ea typeface="Plus Jakarta Sans"/>
              </a:rPr>
              <a:t>l</a:t>
            </a: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Plus Jakarta Sans"/>
                <a:ea typeface="Plus Jakarta Sans"/>
              </a:rPr>
              <a:t>e</a:t>
            </a: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Plus Jakarta Sans"/>
                <a:ea typeface="Plus Jakarta Sans"/>
              </a:rPr>
              <a:t>:</a:t>
            </a: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Plus Jakarta Sans"/>
                <a:ea typeface="Plus Jakarta Sans"/>
              </a:rPr>
              <a:t> </a:t>
            </a: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Plus Jakarta Sans"/>
                <a:ea typeface="Plus Jakarta Sans"/>
              </a:rPr>
              <a:t>S</a:t>
            </a: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Plus Jakarta Sans"/>
                <a:ea typeface="Plus Jakarta Sans"/>
              </a:rPr>
              <a:t>a</a:t>
            </a: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Plus Jakarta Sans"/>
                <a:ea typeface="Plus Jakarta Sans"/>
              </a:rPr>
              <a:t>f</a:t>
            </a: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Plus Jakarta Sans"/>
                <a:ea typeface="Plus Jakarta Sans"/>
              </a:rPr>
              <a:t>e</a:t>
            </a: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Plus Jakarta Sans"/>
                <a:ea typeface="Plus Jakarta Sans"/>
              </a:rPr>
              <a:t>S</a:t>
            </a: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Plus Jakarta Sans"/>
                <a:ea typeface="Plus Jakarta Sans"/>
              </a:rPr>
              <a:t>h</a:t>
            </a: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Plus Jakarta Sans"/>
                <a:ea typeface="Plus Jakarta Sans"/>
              </a:rPr>
              <a:t>a</a:t>
            </a: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Plus Jakarta Sans"/>
                <a:ea typeface="Plus Jakarta Sans"/>
              </a:rPr>
              <a:t>r</a:t>
            </a: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Plus Jakarta Sans"/>
                <a:ea typeface="Plus Jakarta Sans"/>
              </a:rPr>
              <a:t>e</a:t>
            </a: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Plus Jakarta Sans"/>
                <a:ea typeface="Plus Jakarta Sans"/>
              </a:rPr>
              <a:t>-</a:t>
            </a: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Plus Jakarta Sans"/>
                <a:ea typeface="Plus Jakarta Sans"/>
              </a:rPr>
              <a:t>E</a:t>
            </a: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Plus Jakarta Sans"/>
                <a:ea typeface="Plus Jakarta Sans"/>
              </a:rPr>
              <a:t>C</a:t>
            </a: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Plus Jakarta Sans"/>
                <a:ea typeface="Plus Jakarta Sans"/>
              </a:rPr>
              <a:t>2</a:t>
            </a: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Plus Jakarta Sans"/>
                <a:ea typeface="Plus Jakarta Sans"/>
              </a:rPr>
              <a:t>-</a:t>
            </a: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Plus Jakarta Sans"/>
                <a:ea typeface="Plus Jakarta Sans"/>
              </a:rPr>
              <a:t>R</a:t>
            </a: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Plus Jakarta Sans"/>
                <a:ea typeface="Plus Jakarta Sans"/>
              </a:rPr>
              <a:t>o</a:t>
            </a: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Plus Jakarta Sans"/>
                <a:ea typeface="Plus Jakarta Sans"/>
              </a:rPr>
              <a:t>l</a:t>
            </a: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Plus Jakarta Sans"/>
                <a:ea typeface="Plus Jakarta Sans"/>
              </a:rPr>
              <a:t>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10"/>
          <p:cNvSpPr/>
          <p:nvPr/>
        </p:nvSpPr>
        <p:spPr>
          <a:xfrm>
            <a:off x="5013720" y="2388240"/>
            <a:ext cx="2951640" cy="14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ts val="1239"/>
              </a:lnSpc>
              <a:tabLst>
                <a:tab pos="0" algn="l"/>
              </a:tabLst>
            </a:pPr>
            <a:r>
              <a:rPr lang="en-US" sz="820" b="0" u="none" strike="noStrike">
                <a:solidFill>
                  <a:srgbClr val="FFFFFF">
                    <a:alpha val="70000"/>
                  </a:srgbClr>
                </a:solidFill>
                <a:effectLst/>
                <a:uFillTx/>
                <a:latin typeface="DM Sans"/>
                <a:ea typeface="DM Sans"/>
              </a:rPr>
              <a:t>Assume: ec2.amazonaws.com • Profile: safeshare-ec2-profile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1" name="Image 4" descr="preencoded.png"/>
          <p:cNvPicPr/>
          <p:nvPr/>
        </p:nvPicPr>
        <p:blipFill>
          <a:blip r:embed="rId3"/>
          <a:stretch/>
        </p:blipFill>
        <p:spPr>
          <a:xfrm>
            <a:off x="11258640" y="2238480"/>
            <a:ext cx="209160" cy="209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2" name="Image 5" descr="preencoded.png"/>
          <p:cNvPicPr/>
          <p:nvPr/>
        </p:nvPicPr>
        <p:blipFill>
          <a:blip r:embed="rId4"/>
          <a:stretch/>
        </p:blipFill>
        <p:spPr>
          <a:xfrm>
            <a:off x="4651920" y="2612160"/>
            <a:ext cx="3693240" cy="1756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3" name="Shape 11"/>
          <p:cNvSpPr/>
          <p:nvPr/>
        </p:nvSpPr>
        <p:spPr>
          <a:xfrm>
            <a:off x="5000760" y="3000240"/>
            <a:ext cx="304560" cy="304560"/>
          </a:xfrm>
          <a:prstGeom prst="roundRect">
            <a:avLst>
              <a:gd name="adj" fmla="val 28125"/>
            </a:avLst>
          </a:prstGeom>
          <a:solidFill>
            <a:srgbClr val="2773E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04" name="Image 6" descr="preencoded.png"/>
          <p:cNvPicPr/>
          <p:nvPr/>
        </p:nvPicPr>
        <p:blipFill>
          <a:blip r:embed="rId5"/>
          <a:stretch/>
        </p:blipFill>
        <p:spPr>
          <a:xfrm>
            <a:off x="5073480" y="3088440"/>
            <a:ext cx="166320" cy="132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5" name="Text 12"/>
          <p:cNvSpPr/>
          <p:nvPr/>
        </p:nvSpPr>
        <p:spPr>
          <a:xfrm>
            <a:off x="5404320" y="3075120"/>
            <a:ext cx="1465920" cy="15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ts val="1261"/>
              </a:lnSpc>
              <a:tabLst>
                <a:tab pos="0" algn="l"/>
              </a:tabLst>
            </a:pPr>
            <a:r>
              <a:rPr lang="en-US" sz="1050" b="1" u="none" spc="-11" strike="noStrike">
                <a:solidFill>
                  <a:srgbClr val="1A2433"/>
                </a:solidFill>
                <a:effectLst/>
                <a:uFillTx/>
                <a:latin typeface="Plus Jakarta Sans"/>
                <a:ea typeface="Plus Jakarta Sans"/>
              </a:rPr>
              <a:t>Policy 1: AWS Managed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 13"/>
          <p:cNvSpPr/>
          <p:nvPr/>
        </p:nvSpPr>
        <p:spPr>
          <a:xfrm>
            <a:off x="5175720" y="3402720"/>
            <a:ext cx="2817000" cy="15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ts val="1261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3D4D67"/>
                </a:solidFill>
                <a:effectLst/>
                <a:uFillTx/>
                <a:latin typeface="DM Sans"/>
                <a:ea typeface="DM Sans"/>
              </a:rPr>
              <a:t> AmazonSSMManagedInstanceCore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7" name="Image 7" descr="preencoded.png"/>
          <p:cNvPicPr/>
          <p:nvPr/>
        </p:nvPicPr>
        <p:blipFill>
          <a:blip r:embed="rId6"/>
          <a:stretch/>
        </p:blipFill>
        <p:spPr>
          <a:xfrm>
            <a:off x="5004360" y="3421800"/>
            <a:ext cx="95040" cy="95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8" name="Text 14"/>
          <p:cNvSpPr/>
          <p:nvPr/>
        </p:nvSpPr>
        <p:spPr>
          <a:xfrm>
            <a:off x="5175720" y="3619800"/>
            <a:ext cx="2817000" cy="15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ts val="1261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3D4D67"/>
                </a:solidFill>
                <a:effectLst/>
                <a:uFillTx/>
                <a:latin typeface="DM Sans"/>
                <a:ea typeface="DM Sans"/>
              </a:rPr>
              <a:t> Session connect &amp; logging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9" name="Image 8" descr="preencoded.png"/>
          <p:cNvPicPr/>
          <p:nvPr/>
        </p:nvPicPr>
        <p:blipFill>
          <a:blip r:embed="rId7"/>
          <a:stretch/>
        </p:blipFill>
        <p:spPr>
          <a:xfrm>
            <a:off x="5004360" y="3638880"/>
            <a:ext cx="95040" cy="95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0" name="Text 15"/>
          <p:cNvSpPr/>
          <p:nvPr/>
        </p:nvSpPr>
        <p:spPr>
          <a:xfrm>
            <a:off x="5175720" y="3837240"/>
            <a:ext cx="2817000" cy="15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ts val="1261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3D4D67"/>
                </a:solidFill>
                <a:effectLst/>
                <a:uFillTx/>
                <a:latin typeface="DM Sans"/>
                <a:ea typeface="DM Sans"/>
              </a:rPr>
              <a:t> No key pair needed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1" name="Image 9" descr="preencoded.png"/>
          <p:cNvPicPr/>
          <p:nvPr/>
        </p:nvPicPr>
        <p:blipFill>
          <a:blip r:embed="rId8"/>
          <a:stretch/>
        </p:blipFill>
        <p:spPr>
          <a:xfrm>
            <a:off x="5004360" y="3855960"/>
            <a:ext cx="95040" cy="95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2" name="Image 10" descr="preencoded.png"/>
          <p:cNvPicPr/>
          <p:nvPr/>
        </p:nvPicPr>
        <p:blipFill>
          <a:blip r:embed="rId9"/>
          <a:stretch/>
        </p:blipFill>
        <p:spPr>
          <a:xfrm>
            <a:off x="8136000" y="2612160"/>
            <a:ext cx="3693600" cy="1756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3" name="Shape 16"/>
          <p:cNvSpPr/>
          <p:nvPr/>
        </p:nvSpPr>
        <p:spPr>
          <a:xfrm>
            <a:off x="8486640" y="3000240"/>
            <a:ext cx="304560" cy="304560"/>
          </a:xfrm>
          <a:prstGeom prst="roundRect">
            <a:avLst>
              <a:gd name="adj" fmla="val 28125"/>
            </a:avLst>
          </a:prstGeom>
          <a:solidFill>
            <a:srgbClr val="A0C7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4" name="Image 11" descr="preencoded.png"/>
          <p:cNvPicPr/>
          <p:nvPr/>
        </p:nvPicPr>
        <p:blipFill>
          <a:blip r:embed="rId10"/>
          <a:stretch/>
        </p:blipFill>
        <p:spPr>
          <a:xfrm>
            <a:off x="8582760" y="3088440"/>
            <a:ext cx="116280" cy="132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5" name="Text 17"/>
          <p:cNvSpPr/>
          <p:nvPr/>
        </p:nvSpPr>
        <p:spPr>
          <a:xfrm>
            <a:off x="8888760" y="3075120"/>
            <a:ext cx="1256040" cy="15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ts val="1261"/>
              </a:lnSpc>
              <a:tabLst>
                <a:tab pos="0" algn="l"/>
              </a:tabLst>
            </a:pPr>
            <a:r>
              <a:rPr lang="en-US" sz="1050" b="1" u="none" spc="-11" strike="noStrike">
                <a:solidFill>
                  <a:srgbClr val="1A2433"/>
                </a:solidFill>
                <a:effectLst/>
                <a:uFillTx/>
                <a:latin typeface="Plus Jakarta Sans"/>
                <a:ea typeface="Plus Jakarta Sans"/>
              </a:rPr>
              <a:t>Policy 2: Custom S3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18"/>
          <p:cNvSpPr/>
          <p:nvPr/>
        </p:nvSpPr>
        <p:spPr>
          <a:xfrm>
            <a:off x="8660160" y="3402720"/>
            <a:ext cx="2817360" cy="15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ts val="1261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3D4D67"/>
                </a:solidFill>
                <a:effectLst/>
                <a:uFillTx/>
                <a:latin typeface="DM Sans"/>
                <a:ea typeface="DM Sans"/>
              </a:rPr>
              <a:t> s3:ListBucket on bucket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7" name="Image 12" descr="preencoded.png"/>
          <p:cNvPicPr/>
          <p:nvPr/>
        </p:nvPicPr>
        <p:blipFill>
          <a:blip r:embed="rId11"/>
          <a:stretch/>
        </p:blipFill>
        <p:spPr>
          <a:xfrm>
            <a:off x="8488440" y="3421800"/>
            <a:ext cx="95040" cy="95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8" name="Text 19"/>
          <p:cNvSpPr/>
          <p:nvPr/>
        </p:nvSpPr>
        <p:spPr>
          <a:xfrm>
            <a:off x="8660160" y="3619800"/>
            <a:ext cx="2817360" cy="15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ts val="1261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3D4D67"/>
                </a:solidFill>
                <a:effectLst/>
                <a:uFillTx/>
                <a:latin typeface="DM Sans"/>
                <a:ea typeface="DM Sans"/>
              </a:rPr>
              <a:t> s3:PutObject, GetObject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9" name="Image 13" descr="preencoded.png"/>
          <p:cNvPicPr/>
          <p:nvPr/>
        </p:nvPicPr>
        <p:blipFill>
          <a:blip r:embed="rId12"/>
          <a:stretch/>
        </p:blipFill>
        <p:spPr>
          <a:xfrm>
            <a:off x="8488440" y="3638880"/>
            <a:ext cx="95040" cy="95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0" name="Text 20"/>
          <p:cNvSpPr/>
          <p:nvPr/>
        </p:nvSpPr>
        <p:spPr>
          <a:xfrm>
            <a:off x="8660160" y="3837240"/>
            <a:ext cx="2817360" cy="15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ts val="1261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3D4D67"/>
                </a:solidFill>
                <a:effectLst/>
                <a:uFillTx/>
                <a:latin typeface="DM Sans"/>
                <a:ea typeface="DM Sans"/>
              </a:rPr>
              <a:t> s3:DeleteObject on /*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1" name="Image 14" descr="preencoded.png"/>
          <p:cNvPicPr/>
          <p:nvPr/>
        </p:nvPicPr>
        <p:blipFill>
          <a:blip r:embed="rId13"/>
          <a:stretch/>
        </p:blipFill>
        <p:spPr>
          <a:xfrm>
            <a:off x="8488440" y="3855960"/>
            <a:ext cx="95040" cy="950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EE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Text 0"/>
          <p:cNvSpPr/>
          <p:nvPr/>
        </p:nvSpPr>
        <p:spPr>
          <a:xfrm>
            <a:off x="533520" y="304920"/>
            <a:ext cx="5333760" cy="67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2679"/>
              </a:lnSpc>
              <a:tabLst>
                <a:tab pos="0" algn="l"/>
              </a:tabLst>
            </a:pPr>
            <a:r>
              <a:rPr lang="en-US" sz="2550" b="1" u="none" spc="-51" strike="noStrike">
                <a:solidFill>
                  <a:srgbClr val="1A2433"/>
                </a:solidFill>
                <a:effectLst/>
                <a:uFillTx/>
                <a:latin typeface="Plus Jakarta Sans"/>
                <a:ea typeface="Plus Jakarta Sans"/>
              </a:rPr>
              <a:t>Upload hits ALB, lands on EC2, then cron syncs to S3</a:t>
            </a:r>
            <a:endParaRPr lang="en-US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3" name="Image 0" descr="preencoded.png"/>
          <p:cNvPicPr/>
          <p:nvPr/>
        </p:nvPicPr>
        <p:blipFill>
          <a:blip r:embed="rId1"/>
          <a:stretch/>
        </p:blipFill>
        <p:spPr>
          <a:xfrm>
            <a:off x="10806840" y="324000"/>
            <a:ext cx="851400" cy="252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4" name="Text 1"/>
          <p:cNvSpPr/>
          <p:nvPr/>
        </p:nvSpPr>
        <p:spPr>
          <a:xfrm>
            <a:off x="10902240" y="380880"/>
            <a:ext cx="660960" cy="14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algn="r" defTabSz="914400">
              <a:lnSpc>
                <a:spcPts val="1239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820" b="1" u="none" spc="65" strike="noStrike">
                <a:solidFill>
                  <a:srgbClr val="2773E4"/>
                </a:solidFill>
                <a:effectLst/>
                <a:uFillTx/>
                <a:latin typeface="DM Sans"/>
                <a:ea typeface="DM Sans"/>
              </a:rPr>
              <a:t>DATA FLOW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2"/>
          <p:cNvSpPr/>
          <p:nvPr/>
        </p:nvSpPr>
        <p:spPr>
          <a:xfrm>
            <a:off x="8420040" y="662040"/>
            <a:ext cx="3238200" cy="3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ts val="1463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4A5D7A"/>
                </a:solidFill>
                <a:effectLst/>
                <a:uFillTx/>
                <a:latin typeface="DM Sans"/>
                <a:ea typeface="DM Sans"/>
              </a:rPr>
              <a:t>Bidirectional sync ensures every EC2 sees same files within 60 seconds.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6" name="Image 1" descr="preencoded.png"/>
          <p:cNvPicPr/>
          <p:nvPr/>
        </p:nvPicPr>
        <p:blipFill>
          <a:blip r:embed="rId2"/>
          <a:stretch/>
        </p:blipFill>
        <p:spPr>
          <a:xfrm>
            <a:off x="228600" y="1717920"/>
            <a:ext cx="11734560" cy="3142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7" name="Image 2" descr="preencoded.png"/>
          <p:cNvPicPr/>
          <p:nvPr/>
        </p:nvPicPr>
        <p:blipFill>
          <a:blip r:embed="rId3"/>
          <a:stretch/>
        </p:blipFill>
        <p:spPr>
          <a:xfrm>
            <a:off x="733320" y="2298960"/>
            <a:ext cx="10724760" cy="1904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8" name="Image 3" descr="preencoded.png"/>
          <p:cNvPicPr/>
          <p:nvPr/>
        </p:nvPicPr>
        <p:blipFill>
          <a:blip r:embed="rId4"/>
          <a:stretch/>
        </p:blipFill>
        <p:spPr>
          <a:xfrm>
            <a:off x="419040" y="5441040"/>
            <a:ext cx="2909520" cy="1245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9" name="Image 4" descr="preencoded.png"/>
          <p:cNvPicPr/>
          <p:nvPr/>
        </p:nvPicPr>
        <p:blipFill>
          <a:blip r:embed="rId5"/>
          <a:stretch/>
        </p:blipFill>
        <p:spPr>
          <a:xfrm>
            <a:off x="685800" y="5736240"/>
            <a:ext cx="266400" cy="266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0" name="Text 3"/>
          <p:cNvSpPr/>
          <p:nvPr/>
        </p:nvSpPr>
        <p:spPr>
          <a:xfrm>
            <a:off x="796680" y="5786280"/>
            <a:ext cx="155520" cy="21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ts val="1463"/>
              </a:lnSpc>
              <a:tabLst>
                <a:tab pos="0" algn="l"/>
              </a:tabLst>
            </a:pPr>
            <a:r>
              <a:rPr lang="en-US" sz="980" b="1" u="none" strike="noStrike">
                <a:solidFill>
                  <a:srgbClr val="FFFFFF"/>
                </a:solidFill>
                <a:effectLst/>
                <a:uFillTx/>
                <a:latin typeface="DM Sans"/>
                <a:ea typeface="DM Sans"/>
              </a:rPr>
              <a:t>1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 4"/>
          <p:cNvSpPr/>
          <p:nvPr/>
        </p:nvSpPr>
        <p:spPr>
          <a:xfrm>
            <a:off x="1047600" y="5736240"/>
            <a:ext cx="2014200" cy="14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ts val="1171"/>
              </a:lnSpc>
              <a:spcAft>
                <a:spcPts val="300"/>
              </a:spcAft>
              <a:tabLst>
                <a:tab pos="0" algn="l"/>
              </a:tabLst>
            </a:pPr>
            <a:r>
              <a:rPr lang="en-US" sz="980" b="1" u="none" spc="-11" strike="noStrike">
                <a:solidFill>
                  <a:srgbClr val="1A2433"/>
                </a:solidFill>
                <a:effectLst/>
                <a:uFillTx/>
                <a:latin typeface="Plus Jakarta Sans"/>
                <a:ea typeface="Plus Jakarta Sans"/>
              </a:rPr>
              <a:t>User → IGW → ALB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5"/>
          <p:cNvSpPr/>
          <p:nvPr/>
        </p:nvSpPr>
        <p:spPr>
          <a:xfrm>
            <a:off x="1047600" y="5923080"/>
            <a:ext cx="2014200" cy="49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304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A5A78"/>
                </a:solidFill>
                <a:effectLst/>
                <a:uFillTx/>
                <a:latin typeface="DM Sans"/>
                <a:ea typeface="DM Sans"/>
              </a:rPr>
              <a:t>Browser upload over 80/443. IGW routes to ALB in public </a:t>
            </a:r>
            <a:r>
              <a:rPr lang="en-US" sz="820" b="0" u="none" strike="noStrike">
                <a:solidFill>
                  <a:srgbClr val="2773E4"/>
                </a:solidFill>
                <a:effectLst/>
                <a:highlight>
                  <a:srgbClr val="EEEFFF"/>
                </a:highlight>
                <a:uFillTx/>
                <a:latin typeface="DM Sans"/>
                <a:ea typeface="DM Sans"/>
              </a:rPr>
              <a:t>10.0.1.0/24</a:t>
            </a:r>
            <a:r>
              <a:rPr lang="en-US" sz="900" b="0" u="none" strike="noStrike">
                <a:solidFill>
                  <a:srgbClr val="4A5A78"/>
                </a:solidFill>
                <a:effectLst/>
                <a:uFillTx/>
                <a:latin typeface="DM Sans"/>
                <a:ea typeface="DM Sans"/>
              </a:rPr>
              <a:t> / </a:t>
            </a:r>
            <a:r>
              <a:rPr lang="en-US" sz="820" b="0" u="none" strike="noStrike">
                <a:solidFill>
                  <a:srgbClr val="2773E4"/>
                </a:solidFill>
                <a:effectLst/>
                <a:highlight>
                  <a:srgbClr val="EEEFFF"/>
                </a:highlight>
                <a:uFillTx/>
                <a:latin typeface="DM Sans"/>
                <a:ea typeface="DM Sans"/>
              </a:rPr>
              <a:t>10.0.2.0/24</a:t>
            </a:r>
            <a:r>
              <a:rPr lang="en-US" sz="900" b="0" u="none" strike="noStrike">
                <a:solidFill>
                  <a:srgbClr val="4A5A78"/>
                </a:solidFill>
                <a:effectLst/>
                <a:uFillTx/>
                <a:latin typeface="DM Sans"/>
                <a:ea typeface="DM Sans"/>
              </a:rPr>
              <a:t>.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3" name="Image 5" descr="preencoded.png"/>
          <p:cNvPicPr/>
          <p:nvPr/>
        </p:nvPicPr>
        <p:blipFill>
          <a:blip r:embed="rId6"/>
          <a:stretch/>
        </p:blipFill>
        <p:spPr>
          <a:xfrm>
            <a:off x="3233880" y="5441040"/>
            <a:ext cx="2909520" cy="1245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4" name="Image 6" descr="preencoded.png"/>
          <p:cNvPicPr/>
          <p:nvPr/>
        </p:nvPicPr>
        <p:blipFill>
          <a:blip r:embed="rId7"/>
          <a:stretch/>
        </p:blipFill>
        <p:spPr>
          <a:xfrm>
            <a:off x="3500280" y="5736240"/>
            <a:ext cx="266400" cy="266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5" name="Text 6"/>
          <p:cNvSpPr/>
          <p:nvPr/>
        </p:nvSpPr>
        <p:spPr>
          <a:xfrm>
            <a:off x="3597840" y="5786280"/>
            <a:ext cx="168840" cy="21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ts val="1463"/>
              </a:lnSpc>
              <a:tabLst>
                <a:tab pos="0" algn="l"/>
              </a:tabLst>
            </a:pPr>
            <a:r>
              <a:rPr lang="en-US" sz="980" b="1" u="none" strike="noStrike">
                <a:solidFill>
                  <a:srgbClr val="FFFFFF"/>
                </a:solidFill>
                <a:effectLst/>
                <a:uFillTx/>
                <a:latin typeface="DM Sans"/>
                <a:ea typeface="DM Sans"/>
              </a:rPr>
              <a:t>2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7"/>
          <p:cNvSpPr/>
          <p:nvPr/>
        </p:nvSpPr>
        <p:spPr>
          <a:xfrm>
            <a:off x="3862440" y="5736240"/>
            <a:ext cx="2014200" cy="14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ts val="1171"/>
              </a:lnSpc>
              <a:spcAft>
                <a:spcPts val="300"/>
              </a:spcAft>
              <a:tabLst>
                <a:tab pos="0" algn="l"/>
              </a:tabLst>
            </a:pPr>
            <a:r>
              <a:rPr lang="en-US" sz="980" b="1" u="none" spc="-11" strike="noStrike">
                <a:solidFill>
                  <a:srgbClr val="1A2433"/>
                </a:solidFill>
                <a:effectLst/>
                <a:uFillTx/>
                <a:latin typeface="Plus Jakarta Sans"/>
                <a:ea typeface="Plus Jakarta Sans"/>
              </a:rPr>
              <a:t>ALB → Target Group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 8"/>
          <p:cNvSpPr/>
          <p:nvPr/>
        </p:nvSpPr>
        <p:spPr>
          <a:xfrm>
            <a:off x="3862440" y="5923080"/>
            <a:ext cx="2014200" cy="33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304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A5A78"/>
                </a:solidFill>
                <a:effectLst/>
                <a:uFillTx/>
                <a:latin typeface="DM Sans"/>
                <a:ea typeface="DM Sans"/>
              </a:rPr>
              <a:t>TG </a:t>
            </a:r>
            <a:r>
              <a:rPr lang="en-US" sz="820" b="0" u="none" strike="noStrike">
                <a:solidFill>
                  <a:srgbClr val="2773E4"/>
                </a:solidFill>
                <a:effectLst/>
                <a:highlight>
                  <a:srgbClr val="EEEFFF"/>
                </a:highlight>
                <a:uFillTx/>
                <a:latin typeface="DM Sans"/>
                <a:ea typeface="DM Sans"/>
              </a:rPr>
              <a:t>SafeShare-TG :5000</a:t>
            </a:r>
            <a:r>
              <a:rPr lang="en-US" sz="900" b="0" u="none" strike="noStrike">
                <a:solidFill>
                  <a:srgbClr val="4A5A78"/>
                </a:solidFill>
                <a:effectLst/>
                <a:uFillTx/>
                <a:latin typeface="DM Sans"/>
                <a:ea typeface="DM Sans"/>
              </a:rPr>
              <a:t> health </a:t>
            </a:r>
            <a:r>
              <a:rPr lang="en-US" sz="820" b="0" u="none" strike="noStrike">
                <a:solidFill>
                  <a:srgbClr val="2773E4"/>
                </a:solidFill>
                <a:effectLst/>
                <a:highlight>
                  <a:srgbClr val="EEEFFF"/>
                </a:highlight>
                <a:uFillTx/>
                <a:latin typeface="DM Sans"/>
                <a:ea typeface="DM Sans"/>
              </a:rPr>
              <a:t>/health</a:t>
            </a:r>
            <a:r>
              <a:rPr lang="en-US" sz="900" b="0" u="none" strike="noStrike">
                <a:solidFill>
                  <a:srgbClr val="4A5A78"/>
                </a:solidFill>
                <a:effectLst/>
                <a:uFillTx/>
                <a:latin typeface="DM Sans"/>
                <a:ea typeface="DM Sans"/>
              </a:rPr>
              <a:t> every 30s. Picks healthy EC2.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8" name="Image 7" descr="preencoded.png"/>
          <p:cNvPicPr/>
          <p:nvPr/>
        </p:nvPicPr>
        <p:blipFill>
          <a:blip r:embed="rId8"/>
          <a:stretch/>
        </p:blipFill>
        <p:spPr>
          <a:xfrm>
            <a:off x="6048360" y="5441040"/>
            <a:ext cx="2909520" cy="1245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9" name="Image 8" descr="preencoded.png"/>
          <p:cNvPicPr/>
          <p:nvPr/>
        </p:nvPicPr>
        <p:blipFill>
          <a:blip r:embed="rId9"/>
          <a:stretch/>
        </p:blipFill>
        <p:spPr>
          <a:xfrm>
            <a:off x="6315120" y="5736240"/>
            <a:ext cx="266400" cy="266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0" name="Text 9"/>
          <p:cNvSpPr/>
          <p:nvPr/>
        </p:nvSpPr>
        <p:spPr>
          <a:xfrm>
            <a:off x="6411240" y="5786280"/>
            <a:ext cx="170280" cy="21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ts val="1463"/>
              </a:lnSpc>
              <a:tabLst>
                <a:tab pos="0" algn="l"/>
              </a:tabLst>
            </a:pPr>
            <a:r>
              <a:rPr lang="en-US" sz="980" b="1" u="none" strike="noStrike">
                <a:solidFill>
                  <a:srgbClr val="1A2433"/>
                </a:solidFill>
                <a:effectLst/>
                <a:uFillTx/>
                <a:latin typeface="DM Sans"/>
                <a:ea typeface="DM Sans"/>
              </a:rPr>
              <a:t>3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10"/>
          <p:cNvSpPr/>
          <p:nvPr/>
        </p:nvSpPr>
        <p:spPr>
          <a:xfrm>
            <a:off x="6676920" y="5736240"/>
            <a:ext cx="2014200" cy="14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ts val="1171"/>
              </a:lnSpc>
              <a:spcAft>
                <a:spcPts val="300"/>
              </a:spcAft>
              <a:tabLst>
                <a:tab pos="0" algn="l"/>
              </a:tabLst>
            </a:pPr>
            <a:r>
              <a:rPr lang="en-US" sz="980" b="1" u="none" spc="-11" strike="noStrike">
                <a:solidFill>
                  <a:srgbClr val="1A2433"/>
                </a:solidFill>
                <a:effectLst/>
                <a:uFillTx/>
                <a:latin typeface="Plus Jakarta Sans"/>
                <a:ea typeface="Plus Jakarta Sans"/>
              </a:rPr>
              <a:t>EC2 Flask save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11"/>
          <p:cNvSpPr/>
          <p:nvPr/>
        </p:nvSpPr>
        <p:spPr>
          <a:xfrm>
            <a:off x="6676920" y="5923080"/>
            <a:ext cx="2014200" cy="49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304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A5A78"/>
                </a:solidFill>
                <a:effectLst/>
                <a:uFillTx/>
                <a:latin typeface="DM Sans"/>
                <a:ea typeface="DM Sans"/>
              </a:rPr>
              <a:t>Flask saves to </a:t>
            </a:r>
            <a:r>
              <a:rPr lang="en-US" sz="820" b="0" u="none" strike="noStrike">
                <a:solidFill>
                  <a:srgbClr val="2773E4"/>
                </a:solidFill>
                <a:effectLst/>
                <a:highlight>
                  <a:srgbClr val="EEEFFF"/>
                </a:highlight>
                <a:uFillTx/>
                <a:latin typeface="DM Sans"/>
                <a:ea typeface="DM Sans"/>
              </a:rPr>
              <a:t>/home/ec2-user/uploads</a:t>
            </a:r>
            <a:r>
              <a:rPr lang="en-US" sz="900" b="0" u="none" strike="noStrike">
                <a:solidFill>
                  <a:srgbClr val="4A5A78"/>
                </a:solidFill>
                <a:effectLst/>
                <a:uFillTx/>
                <a:latin typeface="DM Sans"/>
                <a:ea typeface="DM Sans"/>
              </a:rPr>
              <a:t>. Instance ID shown in UI for tracking.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3" name="Image 9" descr="preencoded.png"/>
          <p:cNvPicPr/>
          <p:nvPr/>
        </p:nvPicPr>
        <p:blipFill>
          <a:blip r:embed="rId10"/>
          <a:stretch/>
        </p:blipFill>
        <p:spPr>
          <a:xfrm>
            <a:off x="8862840" y="5441040"/>
            <a:ext cx="2909520" cy="1245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4" name="Image 10" descr="preencoded.png"/>
          <p:cNvPicPr/>
          <p:nvPr/>
        </p:nvPicPr>
        <p:blipFill>
          <a:blip r:embed="rId11"/>
          <a:stretch/>
        </p:blipFill>
        <p:spPr>
          <a:xfrm>
            <a:off x="9129600" y="5736240"/>
            <a:ext cx="266400" cy="266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5" name="Text 12"/>
          <p:cNvSpPr/>
          <p:nvPr/>
        </p:nvSpPr>
        <p:spPr>
          <a:xfrm>
            <a:off x="9222840" y="5786280"/>
            <a:ext cx="173160" cy="21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ts val="1463"/>
              </a:lnSpc>
              <a:tabLst>
                <a:tab pos="0" algn="l"/>
              </a:tabLst>
            </a:pPr>
            <a:r>
              <a:rPr lang="en-US" sz="980" b="1" u="none" strike="noStrike">
                <a:solidFill>
                  <a:srgbClr val="FFFFFF"/>
                </a:solidFill>
                <a:effectLst/>
                <a:uFillTx/>
                <a:latin typeface="DM Sans"/>
                <a:ea typeface="DM Sans"/>
              </a:rPr>
              <a:t>4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 13"/>
          <p:cNvSpPr/>
          <p:nvPr/>
        </p:nvSpPr>
        <p:spPr>
          <a:xfrm>
            <a:off x="9491760" y="5736240"/>
            <a:ext cx="2014200" cy="14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ts val="1171"/>
              </a:lnSpc>
              <a:spcAft>
                <a:spcPts val="300"/>
              </a:spcAft>
              <a:tabLst>
                <a:tab pos="0" algn="l"/>
              </a:tabLst>
            </a:pPr>
            <a:r>
              <a:rPr lang="en-US" sz="980" b="1" u="none" spc="-11" strike="noStrike">
                <a:solidFill>
                  <a:srgbClr val="1A2433"/>
                </a:solidFill>
                <a:effectLst/>
                <a:uFillTx/>
                <a:latin typeface="Plus Jakarta Sans"/>
                <a:ea typeface="Plus Jakarta Sans"/>
              </a:rPr>
              <a:t>Cron → S3 </a:t>
            </a:r>
            <a:r>
              <a:rPr lang="en-US" sz="980" b="1" u="none" spc="-11" strike="noStrike">
                <a:solidFill>
                  <a:srgbClr val="1A2433"/>
                </a:solidFill>
                <a:effectLst/>
                <a:uFillTx/>
                <a:latin typeface="Plus Jakarta Sans"/>
                <a:ea typeface="Plus Jakarta Sans"/>
              </a:rPr>
              <a:t>→ All </a:t>
            </a:r>
            <a:r>
              <a:rPr lang="en-US" sz="980" b="1" u="none" spc="-11" strike="noStrike">
                <a:solidFill>
                  <a:srgbClr val="1A2433"/>
                </a:solidFill>
                <a:effectLst/>
                <a:uFillTx/>
                <a:latin typeface="Plus Jakarta Sans"/>
                <a:ea typeface="Plus Jakarta Sans"/>
              </a:rPr>
              <a:t>EC2s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14"/>
          <p:cNvSpPr/>
          <p:nvPr/>
        </p:nvSpPr>
        <p:spPr>
          <a:xfrm>
            <a:off x="9491760" y="5923080"/>
            <a:ext cx="2014200" cy="33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304"/>
              </a:lnSpc>
              <a:tabLst>
                <a:tab pos="0" algn="l"/>
              </a:tabLst>
            </a:pPr>
            <a:r>
              <a:rPr lang="en-US" sz="820" b="0" u="none" strike="noStrike">
                <a:solidFill>
                  <a:srgbClr val="2773E4"/>
                </a:solidFill>
                <a:effectLst/>
                <a:highlight>
                  <a:srgbClr val="EEEFFF"/>
                </a:highlight>
                <a:uFillTx/>
                <a:latin typeface="DM Sans"/>
                <a:ea typeface="DM Sans"/>
              </a:rPr>
              <a:t>* * * * *</a:t>
            </a:r>
            <a:r>
              <a:rPr lang="en-US" sz="900" b="0" u="none" strike="noStrike">
                <a:solidFill>
                  <a:srgbClr val="4A5A78"/>
                </a:solidFill>
                <a:effectLst/>
                <a:uFillTx/>
                <a:latin typeface="DM Sans"/>
                <a:ea typeface="DM Sans"/>
              </a:rPr>
              <a:t> </a:t>
            </a:r>
            <a:r>
              <a:rPr lang="en-US" sz="820" b="0" u="none" strike="noStrike">
                <a:solidFill>
                  <a:srgbClr val="2773E4"/>
                </a:solidFill>
                <a:effectLst/>
                <a:highlight>
                  <a:srgbClr val="EEEFFF"/>
                </a:highlight>
                <a:uFillTx/>
                <a:latin typeface="DM Sans"/>
                <a:ea typeface="DM Sans"/>
              </a:rPr>
              <a:t>aws s3 sync --delete</a:t>
            </a:r>
            <a:r>
              <a:rPr lang="en-US" sz="900" b="0" u="none" strike="noStrike">
                <a:solidFill>
                  <a:srgbClr val="4A5A78"/>
                </a:solidFill>
                <a:effectLst/>
                <a:uFillTx/>
                <a:latin typeface="DM Sans"/>
                <a:ea typeface="DM Sans"/>
              </a:rPr>
              <a:t> both ways. Log </a:t>
            </a:r>
            <a:r>
              <a:rPr lang="en-US" sz="820" b="0" u="none" strike="noStrike">
                <a:solidFill>
                  <a:srgbClr val="2773E4"/>
                </a:solidFill>
                <a:effectLst/>
                <a:highlight>
                  <a:srgbClr val="EEEFFF"/>
                </a:highlight>
                <a:uFillTx/>
                <a:latin typeface="DM Sans"/>
                <a:ea typeface="DM Sans"/>
              </a:rPr>
              <a:t>/var/log/s3-sync.log</a:t>
            </a:r>
            <a:r>
              <a:rPr lang="en-US" sz="900" b="0" u="none" strike="noStrike">
                <a:solidFill>
                  <a:srgbClr val="4A5A78"/>
                </a:solidFill>
                <a:effectLst/>
                <a:uFillTx/>
                <a:latin typeface="DM Sans"/>
                <a:ea typeface="DM Sans"/>
              </a:rPr>
              <a:t>.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EE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Text 0"/>
          <p:cNvSpPr/>
          <p:nvPr/>
        </p:nvSpPr>
        <p:spPr>
          <a:xfrm>
            <a:off x="533520" y="343080"/>
            <a:ext cx="5714640" cy="78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2993"/>
              </a:lnSpc>
              <a:tabLst>
                <a:tab pos="0" algn="l"/>
              </a:tabLst>
            </a:pPr>
            <a:r>
              <a:rPr lang="en-US" sz="2850" b="1" u="none" spc="-57" strike="noStrike">
                <a:solidFill>
                  <a:srgbClr val="1A2433"/>
                </a:solidFill>
                <a:effectLst/>
                <a:uFillTx/>
                <a:latin typeface="Plus Jakarta Sans"/>
                <a:ea typeface="Plus Jakarta Sans"/>
              </a:rPr>
              <a:t>Highl</a:t>
            </a:r>
            <a:r>
              <a:rPr lang="en-US" sz="2850" b="1" u="none" spc="-57" strike="noStrike">
                <a:solidFill>
                  <a:srgbClr val="1A2433"/>
                </a:solidFill>
                <a:effectLst/>
                <a:uFillTx/>
                <a:latin typeface="Plus Jakarta Sans"/>
                <a:ea typeface="Plus Jakarta Sans"/>
              </a:rPr>
              <a:t>y </a:t>
            </a:r>
            <a:r>
              <a:rPr lang="en-US" sz="2850" b="1" u="none" spc="-57" strike="noStrike">
                <a:solidFill>
                  <a:srgbClr val="1A2433"/>
                </a:solidFill>
                <a:effectLst/>
                <a:uFillTx/>
                <a:latin typeface="Plus Jakarta Sans"/>
                <a:ea typeface="Plus Jakarta Sans"/>
              </a:rPr>
              <a:t>avail</a:t>
            </a:r>
            <a:r>
              <a:rPr lang="en-US" sz="2850" b="1" u="none" spc="-57" strike="noStrike">
                <a:solidFill>
                  <a:srgbClr val="1A2433"/>
                </a:solidFill>
                <a:effectLst/>
                <a:uFillTx/>
                <a:latin typeface="Plus Jakarta Sans"/>
                <a:ea typeface="Plus Jakarta Sans"/>
              </a:rPr>
              <a:t>able, </a:t>
            </a:r>
            <a:r>
              <a:rPr lang="en-US" sz="2850" b="1" u="none" spc="-57" strike="noStrike">
                <a:solidFill>
                  <a:srgbClr val="1A2433"/>
                </a:solidFill>
                <a:effectLst/>
                <a:uFillTx/>
                <a:latin typeface="Plus Jakarta Sans"/>
                <a:ea typeface="Plus Jakarta Sans"/>
              </a:rPr>
              <a:t>persi</a:t>
            </a:r>
            <a:r>
              <a:rPr lang="en-US" sz="2850" b="1" u="none" spc="-57" strike="noStrike">
                <a:solidFill>
                  <a:srgbClr val="1A2433"/>
                </a:solidFill>
                <a:effectLst/>
                <a:uFillTx/>
                <a:latin typeface="Plus Jakarta Sans"/>
                <a:ea typeface="Plus Jakarta Sans"/>
              </a:rPr>
              <a:t>stent</a:t>
            </a:r>
            <a:r>
              <a:rPr lang="en-US" sz="2850" b="1" u="none" spc="-57" strike="noStrike">
                <a:solidFill>
                  <a:srgbClr val="1A2433"/>
                </a:solidFill>
                <a:effectLst/>
                <a:uFillTx/>
                <a:latin typeface="Plus Jakarta Sans"/>
                <a:ea typeface="Plus Jakarta Sans"/>
              </a:rPr>
              <a:t>, and </a:t>
            </a:r>
            <a:r>
              <a:rPr lang="en-US" sz="2850" b="1" u="none" spc="-57" strike="noStrike">
                <a:solidFill>
                  <a:srgbClr val="2773E4"/>
                </a:solidFill>
                <a:effectLst/>
                <a:uFillTx/>
                <a:latin typeface="DM Sans"/>
                <a:ea typeface="DM Sans"/>
              </a:rPr>
              <a:t>cost </a:t>
            </a:r>
            <a:r>
              <a:rPr lang="en-US" sz="2850" b="1" u="none" spc="-57" strike="noStrike">
                <a:solidFill>
                  <a:srgbClr val="2773E4"/>
                </a:solidFill>
                <a:effectLst/>
                <a:uFillTx/>
                <a:latin typeface="DM Sans"/>
                <a:ea typeface="DM Sans"/>
              </a:rPr>
              <a:t>opti</a:t>
            </a:r>
            <a:r>
              <a:rPr lang="en-US" sz="2850" b="1" u="none" spc="-57" strike="noStrike">
                <a:solidFill>
                  <a:srgbClr val="2773E4"/>
                </a:solidFill>
                <a:effectLst/>
                <a:uFillTx/>
                <a:latin typeface="DM Sans"/>
                <a:ea typeface="DM Sans"/>
              </a:rPr>
              <a:t>mize</a:t>
            </a:r>
            <a:r>
              <a:rPr lang="en-US" sz="2850" b="1" u="none" spc="-57" strike="noStrike">
                <a:solidFill>
                  <a:srgbClr val="2773E4"/>
                </a:solidFill>
                <a:effectLst/>
                <a:uFillTx/>
                <a:latin typeface="DM Sans"/>
                <a:ea typeface="DM Sans"/>
              </a:rPr>
              <a:t>d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 1"/>
          <p:cNvSpPr/>
          <p:nvPr/>
        </p:nvSpPr>
        <p:spPr>
          <a:xfrm>
            <a:off x="8801280" y="583560"/>
            <a:ext cx="2857320" cy="54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ts val="1463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4A5D7A"/>
                </a:solidFill>
                <a:effectLst/>
                <a:uFillTx/>
                <a:latin typeface="DM Sans"/>
                <a:ea typeface="DM Sans"/>
              </a:rPr>
              <a:t>3-tier holds under replacement, scales with ASG, and syncs via S3 within 60s — no single point of failure.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0" name="Image 0" descr="preencoded.png"/>
          <p:cNvPicPr/>
          <p:nvPr/>
        </p:nvPicPr>
        <p:blipFill>
          <a:blip r:embed="rId1"/>
          <a:stretch/>
        </p:blipFill>
        <p:spPr>
          <a:xfrm>
            <a:off x="304920" y="1036080"/>
            <a:ext cx="5943240" cy="1577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1" name="Shape 2"/>
          <p:cNvSpPr/>
          <p:nvPr/>
        </p:nvSpPr>
        <p:spPr>
          <a:xfrm>
            <a:off x="752400" y="1523880"/>
            <a:ext cx="456840" cy="456840"/>
          </a:xfrm>
          <a:prstGeom prst="roundRect">
            <a:avLst>
              <a:gd name="adj" fmla="val 25000"/>
            </a:avLst>
          </a:prstGeom>
          <a:solidFill>
            <a:srgbClr val="2773E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52" name="Image 1" descr="preencoded.png"/>
          <p:cNvPicPr/>
          <p:nvPr/>
        </p:nvPicPr>
        <p:blipFill>
          <a:blip r:embed="rId2"/>
          <a:stretch/>
        </p:blipFill>
        <p:spPr>
          <a:xfrm>
            <a:off x="895320" y="1664640"/>
            <a:ext cx="171000" cy="171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3" name="Text 3"/>
          <p:cNvSpPr/>
          <p:nvPr/>
        </p:nvSpPr>
        <p:spPr>
          <a:xfrm>
            <a:off x="1343160" y="1522080"/>
            <a:ext cx="445752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ts val="1349"/>
              </a:lnSpc>
              <a:spcAft>
                <a:spcPts val="451"/>
              </a:spcAft>
              <a:tabLst>
                <a:tab pos="0" algn="l"/>
              </a:tabLst>
            </a:pPr>
            <a:r>
              <a:rPr lang="en-US" sz="1130" b="1" u="none" spc="-11" strike="noStrike">
                <a:solidFill>
                  <a:srgbClr val="1A2433"/>
                </a:solidFill>
                <a:effectLst/>
                <a:uFillTx/>
                <a:latin typeface="Plus Jakarta Sans"/>
                <a:ea typeface="Plus Jakarta Sans"/>
              </a:rPr>
              <a:t>HA across 2 AZs </a:t>
            </a:r>
            <a:r>
              <a:rPr lang="en-US" sz="750" b="1" u="none" spc="-11" strike="noStrike">
                <a:solidFill>
                  <a:srgbClr val="2773E4"/>
                </a:solidFill>
                <a:effectLst/>
                <a:highlight>
                  <a:srgbClr val="EEEFFF"/>
                </a:highlight>
                <a:uFillTx/>
                <a:latin typeface="monospace"/>
                <a:ea typeface="monospace"/>
              </a:rPr>
              <a:t>10.0.1/2.0 &amp; 101/102.0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 4"/>
          <p:cNvSpPr/>
          <p:nvPr/>
        </p:nvSpPr>
        <p:spPr>
          <a:xfrm>
            <a:off x="1343160" y="1769400"/>
            <a:ext cx="4457520" cy="35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414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475B76"/>
                </a:solidFill>
                <a:effectLst/>
                <a:uFillTx/>
                <a:latin typeface="DM Sans"/>
                <a:ea typeface="DM Sans"/>
              </a:rPr>
              <a:t>ALB in public subnets, EC2 in private. If AZ-a fails, AZ-b serves. Private has no public IP.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5" name="Image 2" descr="preencoded.png"/>
          <p:cNvPicPr/>
          <p:nvPr/>
        </p:nvPicPr>
        <p:blipFill>
          <a:blip r:embed="rId3"/>
          <a:stretch/>
        </p:blipFill>
        <p:spPr>
          <a:xfrm>
            <a:off x="5943600" y="1036080"/>
            <a:ext cx="5943240" cy="1577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6" name="Shape 5"/>
          <p:cNvSpPr/>
          <p:nvPr/>
        </p:nvSpPr>
        <p:spPr>
          <a:xfrm>
            <a:off x="6391440" y="1523880"/>
            <a:ext cx="456840" cy="456840"/>
          </a:xfrm>
          <a:prstGeom prst="roundRect">
            <a:avLst>
              <a:gd name="adj" fmla="val 25000"/>
            </a:avLst>
          </a:prstGeom>
          <a:solidFill>
            <a:srgbClr val="1A243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57" name="Image 3" descr="preencoded.png"/>
          <p:cNvPicPr/>
          <p:nvPr/>
        </p:nvPicPr>
        <p:blipFill>
          <a:blip r:embed="rId4"/>
          <a:stretch/>
        </p:blipFill>
        <p:spPr>
          <a:xfrm>
            <a:off x="6534000" y="1664640"/>
            <a:ext cx="171000" cy="171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8" name="Text 6"/>
          <p:cNvSpPr/>
          <p:nvPr/>
        </p:nvSpPr>
        <p:spPr>
          <a:xfrm>
            <a:off x="6981840" y="1522080"/>
            <a:ext cx="4457520" cy="1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ts val="1349"/>
              </a:lnSpc>
              <a:spcAft>
                <a:spcPts val="451"/>
              </a:spcAft>
              <a:tabLst>
                <a:tab pos="0" algn="l"/>
              </a:tabLst>
            </a:pPr>
            <a:r>
              <a:rPr lang="en-US" sz="1130" b="1" u="none" spc="-11" strike="noStrike">
                <a:solidFill>
                  <a:srgbClr val="1A2433"/>
                </a:solidFill>
                <a:effectLst/>
                <a:uFillTx/>
                <a:latin typeface="Plus Jakarta Sans"/>
                <a:ea typeface="Plus Jakarta Sans"/>
              </a:rPr>
              <a:t>Persistent via S3 sync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 7"/>
          <p:cNvSpPr/>
          <p:nvPr/>
        </p:nvSpPr>
        <p:spPr>
          <a:xfrm>
            <a:off x="6981840" y="1750680"/>
            <a:ext cx="4457520" cy="18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ts val="1414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475B76"/>
                </a:solidFill>
                <a:effectLst/>
                <a:uFillTx/>
                <a:latin typeface="DM Sans"/>
                <a:ea typeface="DM Sans"/>
              </a:rPr>
              <a:t>C</a:t>
            </a:r>
            <a:r>
              <a:rPr lang="en-US" sz="980" b="0" u="none" strike="noStrike">
                <a:solidFill>
                  <a:srgbClr val="475B76"/>
                </a:solidFill>
                <a:effectLst/>
                <a:uFillTx/>
                <a:latin typeface="DM Sans"/>
                <a:ea typeface="DM Sans"/>
              </a:rPr>
              <a:t>e</a:t>
            </a:r>
            <a:r>
              <a:rPr lang="en-US" sz="980" b="0" u="none" strike="noStrike">
                <a:solidFill>
                  <a:srgbClr val="475B76"/>
                </a:solidFill>
                <a:effectLst/>
                <a:uFillTx/>
                <a:latin typeface="DM Sans"/>
                <a:ea typeface="DM Sans"/>
              </a:rPr>
              <a:t>n</a:t>
            </a:r>
            <a:r>
              <a:rPr lang="en-US" sz="980" b="0" u="none" strike="noStrike">
                <a:solidFill>
                  <a:srgbClr val="475B76"/>
                </a:solidFill>
                <a:effectLst/>
                <a:uFillTx/>
                <a:latin typeface="DM Sans"/>
                <a:ea typeface="DM Sans"/>
              </a:rPr>
              <a:t>t</a:t>
            </a:r>
            <a:r>
              <a:rPr lang="en-US" sz="980" b="0" u="none" strike="noStrike">
                <a:solidFill>
                  <a:srgbClr val="475B76"/>
                </a:solidFill>
                <a:effectLst/>
                <a:uFillTx/>
                <a:latin typeface="DM Sans"/>
                <a:ea typeface="DM Sans"/>
              </a:rPr>
              <a:t>r</a:t>
            </a:r>
            <a:r>
              <a:rPr lang="en-US" sz="980" b="0" u="none" strike="noStrike">
                <a:solidFill>
                  <a:srgbClr val="475B76"/>
                </a:solidFill>
                <a:effectLst/>
                <a:uFillTx/>
                <a:latin typeface="DM Sans"/>
                <a:ea typeface="DM Sans"/>
              </a:rPr>
              <a:t>a</a:t>
            </a:r>
            <a:r>
              <a:rPr lang="en-US" sz="980" b="0" u="none" strike="noStrike">
                <a:solidFill>
                  <a:srgbClr val="475B76"/>
                </a:solidFill>
                <a:effectLst/>
                <a:uFillTx/>
                <a:latin typeface="DM Sans"/>
                <a:ea typeface="DM Sans"/>
              </a:rPr>
              <a:t>l</a:t>
            </a:r>
            <a:r>
              <a:rPr lang="en-US" sz="980" b="0" u="none" strike="noStrike">
                <a:solidFill>
                  <a:srgbClr val="475B76"/>
                </a:solidFill>
                <a:effectLst/>
                <a:uFillTx/>
                <a:latin typeface="DM Sans"/>
                <a:ea typeface="DM Sans"/>
              </a:rPr>
              <a:t> </a:t>
            </a:r>
            <a:r>
              <a:rPr lang="en-US" sz="980" b="0" u="none" strike="noStrike">
                <a:solidFill>
                  <a:srgbClr val="475B76"/>
                </a:solidFill>
                <a:effectLst/>
                <a:uFillTx/>
                <a:latin typeface="DM Sans"/>
                <a:ea typeface="DM Sans"/>
              </a:rPr>
              <a:t>b</a:t>
            </a:r>
            <a:r>
              <a:rPr lang="en-US" sz="980" b="0" u="none" strike="noStrike">
                <a:solidFill>
                  <a:srgbClr val="475B76"/>
                </a:solidFill>
                <a:effectLst/>
                <a:uFillTx/>
                <a:latin typeface="DM Sans"/>
                <a:ea typeface="DM Sans"/>
              </a:rPr>
              <a:t>u</a:t>
            </a:r>
            <a:r>
              <a:rPr lang="en-US" sz="980" b="0" u="none" strike="noStrike">
                <a:solidFill>
                  <a:srgbClr val="475B76"/>
                </a:solidFill>
                <a:effectLst/>
                <a:uFillTx/>
                <a:latin typeface="DM Sans"/>
                <a:ea typeface="DM Sans"/>
              </a:rPr>
              <a:t>c</a:t>
            </a:r>
            <a:r>
              <a:rPr lang="en-US" sz="980" b="0" u="none" strike="noStrike">
                <a:solidFill>
                  <a:srgbClr val="475B76"/>
                </a:solidFill>
                <a:effectLst/>
                <a:uFillTx/>
                <a:latin typeface="DM Sans"/>
                <a:ea typeface="DM Sans"/>
              </a:rPr>
              <a:t>k</a:t>
            </a:r>
            <a:r>
              <a:rPr lang="en-US" sz="980" b="0" u="none" strike="noStrike">
                <a:solidFill>
                  <a:srgbClr val="475B76"/>
                </a:solidFill>
                <a:effectLst/>
                <a:uFillTx/>
                <a:latin typeface="DM Sans"/>
                <a:ea typeface="DM Sans"/>
              </a:rPr>
              <a:t>e</a:t>
            </a:r>
            <a:r>
              <a:rPr lang="en-US" sz="980" b="0" u="none" strike="noStrike">
                <a:solidFill>
                  <a:srgbClr val="475B76"/>
                </a:solidFill>
                <a:effectLst/>
                <a:uFillTx/>
                <a:latin typeface="DM Sans"/>
                <a:ea typeface="DM Sans"/>
              </a:rPr>
              <a:t>t</a:t>
            </a:r>
            <a:r>
              <a:rPr lang="en-US" sz="980" b="0" u="none" strike="noStrike">
                <a:solidFill>
                  <a:srgbClr val="475B76"/>
                </a:solidFill>
                <a:effectLst/>
                <a:uFillTx/>
                <a:latin typeface="DM Sans"/>
                <a:ea typeface="DM Sans"/>
              </a:rPr>
              <a:t> </a:t>
            </a:r>
            <a:r>
              <a:rPr lang="en-US" sz="820" b="0" u="none" strike="noStrike">
                <a:solidFill>
                  <a:srgbClr val="475B76"/>
                </a:solidFill>
                <a:effectLst/>
                <a:highlight>
                  <a:srgbClr val="EEEFFF"/>
                </a:highlight>
                <a:uFillTx/>
                <a:latin typeface="monospace"/>
                <a:ea typeface="monospace"/>
              </a:rPr>
              <a:t>s</a:t>
            </a:r>
            <a:r>
              <a:rPr lang="en-US" sz="820" b="0" u="none" strike="noStrike">
                <a:solidFill>
                  <a:srgbClr val="475B76"/>
                </a:solidFill>
                <a:effectLst/>
                <a:highlight>
                  <a:srgbClr val="EEEFFF"/>
                </a:highlight>
                <a:uFillTx/>
                <a:latin typeface="monospace"/>
                <a:ea typeface="monospace"/>
              </a:rPr>
              <a:t>a</a:t>
            </a:r>
            <a:r>
              <a:rPr lang="en-US" sz="820" b="0" u="none" strike="noStrike">
                <a:solidFill>
                  <a:srgbClr val="475B76"/>
                </a:solidFill>
                <a:effectLst/>
                <a:highlight>
                  <a:srgbClr val="EEEFFF"/>
                </a:highlight>
                <a:uFillTx/>
                <a:latin typeface="monospace"/>
                <a:ea typeface="monospace"/>
              </a:rPr>
              <a:t>f</a:t>
            </a:r>
            <a:r>
              <a:rPr lang="en-US" sz="820" b="0" u="none" strike="noStrike">
                <a:solidFill>
                  <a:srgbClr val="475B76"/>
                </a:solidFill>
                <a:effectLst/>
                <a:highlight>
                  <a:srgbClr val="EEEFFF"/>
                </a:highlight>
                <a:uFillTx/>
                <a:latin typeface="monospace"/>
                <a:ea typeface="monospace"/>
              </a:rPr>
              <a:t>e</a:t>
            </a:r>
            <a:r>
              <a:rPr lang="en-US" sz="820" b="0" u="none" strike="noStrike">
                <a:solidFill>
                  <a:srgbClr val="475B76"/>
                </a:solidFill>
                <a:effectLst/>
                <a:highlight>
                  <a:srgbClr val="EEEFFF"/>
                </a:highlight>
                <a:uFillTx/>
                <a:latin typeface="monospace"/>
                <a:ea typeface="monospace"/>
              </a:rPr>
              <a:t>s</a:t>
            </a:r>
            <a:r>
              <a:rPr lang="en-US" sz="820" b="0" u="none" strike="noStrike">
                <a:solidFill>
                  <a:srgbClr val="475B76"/>
                </a:solidFill>
                <a:effectLst/>
                <a:highlight>
                  <a:srgbClr val="EEEFFF"/>
                </a:highlight>
                <a:uFillTx/>
                <a:latin typeface="monospace"/>
                <a:ea typeface="monospace"/>
              </a:rPr>
              <a:t>h</a:t>
            </a:r>
            <a:r>
              <a:rPr lang="en-US" sz="820" b="0" u="none" strike="noStrike">
                <a:solidFill>
                  <a:srgbClr val="475B76"/>
                </a:solidFill>
                <a:effectLst/>
                <a:highlight>
                  <a:srgbClr val="EEEFFF"/>
                </a:highlight>
                <a:uFillTx/>
                <a:latin typeface="monospace"/>
                <a:ea typeface="monospace"/>
              </a:rPr>
              <a:t>a</a:t>
            </a:r>
            <a:r>
              <a:rPr lang="en-US" sz="820" b="0" u="none" strike="noStrike">
                <a:solidFill>
                  <a:srgbClr val="475B76"/>
                </a:solidFill>
                <a:effectLst/>
                <a:highlight>
                  <a:srgbClr val="EEEFFF"/>
                </a:highlight>
                <a:uFillTx/>
                <a:latin typeface="monospace"/>
                <a:ea typeface="monospace"/>
              </a:rPr>
              <a:t>r</a:t>
            </a:r>
            <a:r>
              <a:rPr lang="en-US" sz="820" b="0" u="none" strike="noStrike">
                <a:solidFill>
                  <a:srgbClr val="475B76"/>
                </a:solidFill>
                <a:effectLst/>
                <a:highlight>
                  <a:srgbClr val="EEEFFF"/>
                </a:highlight>
                <a:uFillTx/>
                <a:latin typeface="monospace"/>
                <a:ea typeface="monospace"/>
              </a:rPr>
              <a:t>e</a:t>
            </a:r>
            <a:r>
              <a:rPr lang="en-US" sz="820" b="0" u="none" strike="noStrike">
                <a:solidFill>
                  <a:srgbClr val="475B76"/>
                </a:solidFill>
                <a:effectLst/>
                <a:highlight>
                  <a:srgbClr val="EEEFFF"/>
                </a:highlight>
                <a:uFillTx/>
                <a:latin typeface="monospace"/>
                <a:ea typeface="monospace"/>
              </a:rPr>
              <a:t>-</a:t>
            </a:r>
            <a:r>
              <a:rPr lang="en-US" sz="820" b="0" u="none" strike="noStrike">
                <a:solidFill>
                  <a:srgbClr val="475B76"/>
                </a:solidFill>
                <a:effectLst/>
                <a:highlight>
                  <a:srgbClr val="EEEFFF"/>
                </a:highlight>
                <a:uFillTx/>
                <a:latin typeface="monospace"/>
                <a:ea typeface="monospace"/>
              </a:rPr>
              <a:t>f</a:t>
            </a:r>
            <a:r>
              <a:rPr lang="en-US" sz="820" b="0" u="none" strike="noStrike">
                <a:solidFill>
                  <a:srgbClr val="475B76"/>
                </a:solidFill>
                <a:effectLst/>
                <a:highlight>
                  <a:srgbClr val="EEEFFF"/>
                </a:highlight>
                <a:uFillTx/>
                <a:latin typeface="monospace"/>
                <a:ea typeface="monospace"/>
              </a:rPr>
              <a:t>i</a:t>
            </a:r>
            <a:r>
              <a:rPr lang="en-US" sz="820" b="0" u="none" strike="noStrike">
                <a:solidFill>
                  <a:srgbClr val="475B76"/>
                </a:solidFill>
                <a:effectLst/>
                <a:highlight>
                  <a:srgbClr val="EEEFFF"/>
                </a:highlight>
                <a:uFillTx/>
                <a:latin typeface="monospace"/>
                <a:ea typeface="monospace"/>
              </a:rPr>
              <a:t>l</a:t>
            </a:r>
            <a:r>
              <a:rPr lang="en-US" sz="820" b="0" u="none" strike="noStrike">
                <a:solidFill>
                  <a:srgbClr val="475B76"/>
                </a:solidFill>
                <a:effectLst/>
                <a:highlight>
                  <a:srgbClr val="EEEFFF"/>
                </a:highlight>
                <a:uFillTx/>
                <a:latin typeface="monospace"/>
                <a:ea typeface="monospace"/>
              </a:rPr>
              <a:t>e</a:t>
            </a:r>
            <a:r>
              <a:rPr lang="en-US" sz="820" b="0" u="none" strike="noStrike">
                <a:solidFill>
                  <a:srgbClr val="475B76"/>
                </a:solidFill>
                <a:effectLst/>
                <a:highlight>
                  <a:srgbClr val="EEEFFF"/>
                </a:highlight>
                <a:uFillTx/>
                <a:latin typeface="monospace"/>
                <a:ea typeface="monospace"/>
              </a:rPr>
              <a:t>s</a:t>
            </a:r>
            <a:r>
              <a:rPr lang="en-US" sz="820" b="0" u="none" strike="noStrike">
                <a:solidFill>
                  <a:srgbClr val="475B76"/>
                </a:solidFill>
                <a:effectLst/>
                <a:highlight>
                  <a:srgbClr val="EEEFFF"/>
                </a:highlight>
                <a:uFillTx/>
                <a:latin typeface="monospace"/>
                <a:ea typeface="monospace"/>
              </a:rPr>
              <a:t>-</a:t>
            </a:r>
            <a:r>
              <a:rPr lang="en-US" sz="820" b="0" u="none" strike="noStrike">
                <a:solidFill>
                  <a:srgbClr val="475B76"/>
                </a:solidFill>
                <a:effectLst/>
                <a:highlight>
                  <a:srgbClr val="EEEFFF"/>
                </a:highlight>
                <a:uFillTx/>
                <a:latin typeface="monospace"/>
                <a:ea typeface="monospace"/>
              </a:rPr>
              <a:t>9</a:t>
            </a:r>
            <a:r>
              <a:rPr lang="en-US" sz="820" b="0" u="none" strike="noStrike">
                <a:solidFill>
                  <a:srgbClr val="475B76"/>
                </a:solidFill>
                <a:effectLst/>
                <a:highlight>
                  <a:srgbClr val="EEEFFF"/>
                </a:highlight>
                <a:uFillTx/>
                <a:latin typeface="monospace"/>
                <a:ea typeface="monospace"/>
              </a:rPr>
              <a:t>9</a:t>
            </a:r>
            <a:r>
              <a:rPr lang="en-US" sz="980" b="0" u="none" strike="noStrike">
                <a:solidFill>
                  <a:srgbClr val="475B76"/>
                </a:solidFill>
                <a:effectLst/>
                <a:uFillTx/>
                <a:latin typeface="DM Sans"/>
                <a:ea typeface="DM Sans"/>
              </a:rPr>
              <a:t> </a:t>
            </a:r>
            <a:r>
              <a:rPr lang="en-US" sz="980" b="0" u="none" strike="noStrike">
                <a:solidFill>
                  <a:srgbClr val="475B76"/>
                </a:solidFill>
                <a:effectLst/>
                <a:uFillTx/>
                <a:latin typeface="DM Sans"/>
                <a:ea typeface="DM Sans"/>
              </a:rPr>
              <a:t>—</a:t>
            </a:r>
            <a:r>
              <a:rPr lang="en-US" sz="980" b="0" u="none" strike="noStrike">
                <a:solidFill>
                  <a:srgbClr val="475B76"/>
                </a:solidFill>
                <a:effectLst/>
                <a:uFillTx/>
                <a:latin typeface="DM Sans"/>
                <a:ea typeface="DM Sans"/>
              </a:rPr>
              <a:t> </a:t>
            </a:r>
            <a:r>
              <a:rPr lang="en-US" sz="980" b="0" u="none" strike="noStrike">
                <a:solidFill>
                  <a:srgbClr val="475B76"/>
                </a:solidFill>
                <a:effectLst/>
                <a:uFillTx/>
                <a:latin typeface="DM Sans"/>
                <a:ea typeface="DM Sans"/>
              </a:rPr>
              <a:t>b</a:t>
            </a:r>
            <a:r>
              <a:rPr lang="en-US" sz="980" b="0" u="none" strike="noStrike">
                <a:solidFill>
                  <a:srgbClr val="475B76"/>
                </a:solidFill>
                <a:effectLst/>
                <a:uFillTx/>
                <a:latin typeface="DM Sans"/>
                <a:ea typeface="DM Sans"/>
              </a:rPr>
              <a:t>i</a:t>
            </a:r>
            <a:r>
              <a:rPr lang="en-US" sz="980" b="0" u="none" strike="noStrike">
                <a:solidFill>
                  <a:srgbClr val="475B76"/>
                </a:solidFill>
                <a:effectLst/>
                <a:uFillTx/>
                <a:latin typeface="DM Sans"/>
                <a:ea typeface="DM Sans"/>
              </a:rPr>
              <a:t>d</a:t>
            </a:r>
            <a:r>
              <a:rPr lang="en-US" sz="980" b="0" u="none" strike="noStrike">
                <a:solidFill>
                  <a:srgbClr val="475B76"/>
                </a:solidFill>
                <a:effectLst/>
                <a:uFillTx/>
                <a:latin typeface="DM Sans"/>
                <a:ea typeface="DM Sans"/>
              </a:rPr>
              <a:t>i</a:t>
            </a:r>
            <a:r>
              <a:rPr lang="en-US" sz="980" b="0" u="none" strike="noStrike">
                <a:solidFill>
                  <a:srgbClr val="475B76"/>
                </a:solidFill>
                <a:effectLst/>
                <a:uFillTx/>
                <a:latin typeface="DM Sans"/>
                <a:ea typeface="DM Sans"/>
              </a:rPr>
              <a:t>r</a:t>
            </a:r>
            <a:r>
              <a:rPr lang="en-US" sz="980" b="0" u="none" strike="noStrike">
                <a:solidFill>
                  <a:srgbClr val="475B76"/>
                </a:solidFill>
                <a:effectLst/>
                <a:uFillTx/>
                <a:latin typeface="DM Sans"/>
                <a:ea typeface="DM Sans"/>
              </a:rPr>
              <a:t>e</a:t>
            </a:r>
            <a:r>
              <a:rPr lang="en-US" sz="980" b="0" u="none" strike="noStrike">
                <a:solidFill>
                  <a:srgbClr val="475B76"/>
                </a:solidFill>
                <a:effectLst/>
                <a:uFillTx/>
                <a:latin typeface="DM Sans"/>
                <a:ea typeface="DM Sans"/>
              </a:rPr>
              <a:t>c</a:t>
            </a:r>
            <a:r>
              <a:rPr lang="en-US" sz="980" b="0" u="none" strike="noStrike">
                <a:solidFill>
                  <a:srgbClr val="475B76"/>
                </a:solidFill>
                <a:effectLst/>
                <a:uFillTx/>
                <a:latin typeface="DM Sans"/>
                <a:ea typeface="DM Sans"/>
              </a:rPr>
              <a:t>t</a:t>
            </a:r>
            <a:r>
              <a:rPr lang="en-US" sz="980" b="0" u="none" strike="noStrike">
                <a:solidFill>
                  <a:srgbClr val="475B76"/>
                </a:solidFill>
                <a:effectLst/>
                <a:uFillTx/>
                <a:latin typeface="DM Sans"/>
                <a:ea typeface="DM Sans"/>
              </a:rPr>
              <a:t>i</a:t>
            </a:r>
            <a:r>
              <a:rPr lang="en-US" sz="980" b="0" u="none" strike="noStrike">
                <a:solidFill>
                  <a:srgbClr val="475B76"/>
                </a:solidFill>
                <a:effectLst/>
                <a:uFillTx/>
                <a:latin typeface="DM Sans"/>
                <a:ea typeface="DM Sans"/>
              </a:rPr>
              <a:t>o</a:t>
            </a:r>
            <a:r>
              <a:rPr lang="en-US" sz="980" b="0" u="none" strike="noStrike">
                <a:solidFill>
                  <a:srgbClr val="475B76"/>
                </a:solidFill>
                <a:effectLst/>
                <a:uFillTx/>
                <a:latin typeface="DM Sans"/>
                <a:ea typeface="DM Sans"/>
              </a:rPr>
              <a:t>n</a:t>
            </a:r>
            <a:r>
              <a:rPr lang="en-US" sz="980" b="0" u="none" strike="noStrike">
                <a:solidFill>
                  <a:srgbClr val="475B76"/>
                </a:solidFill>
                <a:effectLst/>
                <a:uFillTx/>
                <a:latin typeface="DM Sans"/>
                <a:ea typeface="DM Sans"/>
              </a:rPr>
              <a:t>a</a:t>
            </a:r>
            <a:r>
              <a:rPr lang="en-US" sz="980" b="0" u="none" strike="noStrike">
                <a:solidFill>
                  <a:srgbClr val="475B76"/>
                </a:solidFill>
                <a:effectLst/>
                <a:uFillTx/>
                <a:latin typeface="DM Sans"/>
                <a:ea typeface="DM Sans"/>
              </a:rPr>
              <a:t>l</a:t>
            </a:r>
            <a:r>
              <a:rPr lang="en-US" sz="980" b="0" u="none" strike="noStrike">
                <a:solidFill>
                  <a:srgbClr val="475B76"/>
                </a:solidFill>
                <a:effectLst/>
                <a:uFillTx/>
                <a:latin typeface="DM Sans"/>
                <a:ea typeface="DM Sans"/>
              </a:rPr>
              <a:t> </a:t>
            </a:r>
            <a:r>
              <a:rPr lang="en-US" sz="820" b="0" u="none" strike="noStrike">
                <a:solidFill>
                  <a:srgbClr val="475B76"/>
                </a:solidFill>
                <a:effectLst/>
                <a:uFillTx/>
                <a:latin typeface="monospace"/>
                <a:ea typeface="monospace"/>
              </a:rPr>
              <a:t>-</a:t>
            </a:r>
            <a:r>
              <a:rPr lang="en-US" sz="820" b="0" u="none" strike="noStrike">
                <a:solidFill>
                  <a:srgbClr val="475B76"/>
                </a:solidFill>
                <a:effectLst/>
                <a:uFillTx/>
                <a:latin typeface="monospace"/>
                <a:ea typeface="monospace"/>
              </a:rPr>
              <a:t>-</a:t>
            </a:r>
            <a:r>
              <a:rPr lang="en-US" sz="820" b="0" u="none" strike="noStrike">
                <a:solidFill>
                  <a:srgbClr val="475B76"/>
                </a:solidFill>
                <a:effectLst/>
                <a:uFillTx/>
                <a:latin typeface="monospace"/>
                <a:ea typeface="monospace"/>
              </a:rPr>
              <a:t>d</a:t>
            </a:r>
            <a:r>
              <a:rPr lang="en-US" sz="820" b="0" u="none" strike="noStrike">
                <a:solidFill>
                  <a:srgbClr val="475B76"/>
                </a:solidFill>
                <a:effectLst/>
                <a:uFillTx/>
                <a:latin typeface="monospace"/>
                <a:ea typeface="monospace"/>
              </a:rPr>
              <a:t>e</a:t>
            </a:r>
            <a:r>
              <a:rPr lang="en-US" sz="820" b="0" u="none" strike="noStrike">
                <a:solidFill>
                  <a:srgbClr val="475B76"/>
                </a:solidFill>
                <a:effectLst/>
                <a:uFillTx/>
                <a:latin typeface="monospace"/>
                <a:ea typeface="monospace"/>
              </a:rPr>
              <a:t>l</a:t>
            </a:r>
            <a:r>
              <a:rPr lang="en-US" sz="820" b="0" u="none" strike="noStrike">
                <a:solidFill>
                  <a:srgbClr val="475B76"/>
                </a:solidFill>
                <a:effectLst/>
                <a:uFillTx/>
                <a:latin typeface="monospace"/>
                <a:ea typeface="monospace"/>
              </a:rPr>
              <a:t>e</a:t>
            </a:r>
            <a:r>
              <a:rPr lang="en-US" sz="820" b="0" u="none" strike="noStrike">
                <a:solidFill>
                  <a:srgbClr val="475B76"/>
                </a:solidFill>
                <a:effectLst/>
                <a:uFillTx/>
                <a:latin typeface="monospace"/>
                <a:ea typeface="monospace"/>
              </a:rPr>
              <a:t>t</a:t>
            </a:r>
            <a:r>
              <a:rPr lang="en-US" sz="820" b="0" u="none" strike="noStrike">
                <a:solidFill>
                  <a:srgbClr val="475B76"/>
                </a:solidFill>
                <a:effectLst/>
                <a:uFillTx/>
                <a:latin typeface="monospace"/>
                <a:ea typeface="monospace"/>
              </a:rPr>
              <a:t>e</a:t>
            </a:r>
            <a:r>
              <a:rPr lang="en-US" sz="980" b="0" u="none" strike="noStrike">
                <a:solidFill>
                  <a:srgbClr val="475B76"/>
                </a:solidFill>
                <a:effectLst/>
                <a:uFillTx/>
                <a:latin typeface="DM Sans"/>
                <a:ea typeface="DM Sans"/>
              </a:rPr>
              <a:t> </a:t>
            </a:r>
            <a:r>
              <a:rPr lang="en-US" sz="980" b="0" u="none" strike="noStrike">
                <a:solidFill>
                  <a:srgbClr val="475B76"/>
                </a:solidFill>
                <a:effectLst/>
                <a:uFillTx/>
                <a:latin typeface="DM Sans"/>
                <a:ea typeface="DM Sans"/>
              </a:rPr>
              <a:t>e</a:t>
            </a:r>
            <a:r>
              <a:rPr lang="en-US" sz="980" b="0" u="none" strike="noStrike">
                <a:solidFill>
                  <a:srgbClr val="475B76"/>
                </a:solidFill>
                <a:effectLst/>
                <a:uFillTx/>
                <a:latin typeface="DM Sans"/>
                <a:ea typeface="DM Sans"/>
              </a:rPr>
              <a:t>v</a:t>
            </a:r>
            <a:r>
              <a:rPr lang="en-US" sz="980" b="0" u="none" strike="noStrike">
                <a:solidFill>
                  <a:srgbClr val="475B76"/>
                </a:solidFill>
                <a:effectLst/>
                <a:uFillTx/>
                <a:latin typeface="DM Sans"/>
                <a:ea typeface="DM Sans"/>
              </a:rPr>
              <a:t>e</a:t>
            </a:r>
            <a:r>
              <a:rPr lang="en-US" sz="980" b="0" u="none" strike="noStrike">
                <a:solidFill>
                  <a:srgbClr val="475B76"/>
                </a:solidFill>
                <a:effectLst/>
                <a:uFillTx/>
                <a:latin typeface="DM Sans"/>
                <a:ea typeface="DM Sans"/>
              </a:rPr>
              <a:t>r</a:t>
            </a:r>
            <a:r>
              <a:rPr lang="en-US" sz="980" b="0" u="none" strike="noStrike">
                <a:solidFill>
                  <a:srgbClr val="475B76"/>
                </a:solidFill>
                <a:effectLst/>
                <a:uFillTx/>
                <a:latin typeface="DM Sans"/>
                <a:ea typeface="DM Sans"/>
              </a:rPr>
              <a:t>y</a:t>
            </a:r>
            <a:r>
              <a:rPr lang="en-US" sz="980" b="0" u="none" strike="noStrike">
                <a:solidFill>
                  <a:srgbClr val="475B76"/>
                </a:solidFill>
                <a:effectLst/>
                <a:uFillTx/>
                <a:latin typeface="DM Sans"/>
                <a:ea typeface="DM Sans"/>
              </a:rPr>
              <a:t> </a:t>
            </a:r>
            <a:r>
              <a:rPr lang="en-US" sz="980" b="0" u="none" strike="noStrike">
                <a:solidFill>
                  <a:srgbClr val="475B76"/>
                </a:solidFill>
                <a:effectLst/>
                <a:uFillTx/>
                <a:latin typeface="DM Sans"/>
                <a:ea typeface="DM Sans"/>
              </a:rPr>
              <a:t>m</a:t>
            </a:r>
            <a:r>
              <a:rPr lang="en-US" sz="980" b="0" u="none" strike="noStrike">
                <a:solidFill>
                  <a:srgbClr val="475B76"/>
                </a:solidFill>
                <a:effectLst/>
                <a:uFillTx/>
                <a:latin typeface="DM Sans"/>
                <a:ea typeface="DM Sans"/>
              </a:rPr>
              <a:t>i</a:t>
            </a:r>
            <a:r>
              <a:rPr lang="en-US" sz="980" b="0" u="none" strike="noStrike">
                <a:solidFill>
                  <a:srgbClr val="475B76"/>
                </a:solidFill>
                <a:effectLst/>
                <a:uFillTx/>
                <a:latin typeface="DM Sans"/>
                <a:ea typeface="DM Sans"/>
              </a:rPr>
              <a:t>n</a:t>
            </a:r>
            <a:r>
              <a:rPr lang="en-US" sz="980" b="0" u="none" strike="noStrike">
                <a:solidFill>
                  <a:srgbClr val="475B76"/>
                </a:solidFill>
                <a:effectLst/>
                <a:uFillTx/>
                <a:latin typeface="DM Sans"/>
                <a:ea typeface="DM Sans"/>
              </a:rPr>
              <a:t>u</a:t>
            </a:r>
            <a:r>
              <a:rPr lang="en-US" sz="980" b="0" u="none" strike="noStrike">
                <a:solidFill>
                  <a:srgbClr val="475B76"/>
                </a:solidFill>
                <a:effectLst/>
                <a:uFillTx/>
                <a:latin typeface="DM Sans"/>
                <a:ea typeface="DM Sans"/>
              </a:rPr>
              <a:t>t</a:t>
            </a:r>
            <a:r>
              <a:rPr lang="en-US" sz="980" b="0" u="none" strike="noStrike">
                <a:solidFill>
                  <a:srgbClr val="475B76"/>
                </a:solidFill>
                <a:effectLst/>
                <a:uFillTx/>
                <a:latin typeface="DM Sans"/>
                <a:ea typeface="DM Sans"/>
              </a:rPr>
              <a:t>e</a:t>
            </a:r>
            <a:r>
              <a:rPr lang="en-US" sz="980" b="0" u="none" strike="noStrike">
                <a:solidFill>
                  <a:srgbClr val="475B76"/>
                </a:solidFill>
                <a:effectLst/>
                <a:uFillTx/>
                <a:latin typeface="DM Sans"/>
                <a:ea typeface="DM Sans"/>
              </a:rPr>
              <a:t>.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0" name="Image 4" descr="preencoded.png"/>
          <p:cNvPicPr/>
          <p:nvPr/>
        </p:nvPicPr>
        <p:blipFill>
          <a:blip r:embed="rId5"/>
          <a:stretch/>
        </p:blipFill>
        <p:spPr>
          <a:xfrm>
            <a:off x="304920" y="2195280"/>
            <a:ext cx="5943240" cy="1569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1" name="Shape 8"/>
          <p:cNvSpPr/>
          <p:nvPr/>
        </p:nvSpPr>
        <p:spPr>
          <a:xfrm>
            <a:off x="752400" y="2676600"/>
            <a:ext cx="456840" cy="456840"/>
          </a:xfrm>
          <a:prstGeom prst="roundRect">
            <a:avLst>
              <a:gd name="adj" fmla="val 25000"/>
            </a:avLst>
          </a:prstGeom>
          <a:solidFill>
            <a:srgbClr val="A0C7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2" name="Image 5" descr="preencoded.png"/>
          <p:cNvPicPr/>
          <p:nvPr/>
        </p:nvPicPr>
        <p:blipFill>
          <a:blip r:embed="rId6"/>
          <a:stretch/>
        </p:blipFill>
        <p:spPr>
          <a:xfrm>
            <a:off x="884520" y="2823840"/>
            <a:ext cx="192600" cy="171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3" name="Text 9"/>
          <p:cNvSpPr/>
          <p:nvPr/>
        </p:nvSpPr>
        <p:spPr>
          <a:xfrm>
            <a:off x="1343160" y="2680920"/>
            <a:ext cx="4457520" cy="1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ts val="1349"/>
              </a:lnSpc>
              <a:spcAft>
                <a:spcPts val="451"/>
              </a:spcAft>
              <a:tabLst>
                <a:tab pos="0" algn="l"/>
              </a:tabLst>
            </a:pPr>
            <a:r>
              <a:rPr lang="en-US" sz="1130" b="1" u="none" spc="-11" strike="noStrike">
                <a:solidFill>
                  <a:srgbClr val="1A2433"/>
                </a:solidFill>
                <a:effectLst/>
                <a:uFillTx/>
                <a:latin typeface="Plus Jakarta Sans"/>
                <a:ea typeface="Plus Jakarta Sans"/>
              </a:rPr>
              <a:t>Self-healing &amp; zero-downtime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 10"/>
          <p:cNvSpPr/>
          <p:nvPr/>
        </p:nvSpPr>
        <p:spPr>
          <a:xfrm>
            <a:off x="1343160" y="2909520"/>
            <a:ext cx="4457520" cy="35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414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475B76"/>
                </a:solidFill>
                <a:effectLst/>
                <a:uFillTx/>
                <a:latin typeface="DM Sans"/>
                <a:ea typeface="DM Sans"/>
              </a:rPr>
              <a:t>A</a:t>
            </a:r>
            <a:r>
              <a:rPr lang="en-US" sz="980" b="0" u="none" strike="noStrike">
                <a:solidFill>
                  <a:srgbClr val="475B76"/>
                </a:solidFill>
                <a:effectLst/>
                <a:uFillTx/>
                <a:latin typeface="DM Sans"/>
                <a:ea typeface="DM Sans"/>
              </a:rPr>
              <a:t>S</a:t>
            </a:r>
            <a:r>
              <a:rPr lang="en-US" sz="980" b="0" u="none" strike="noStrike">
                <a:solidFill>
                  <a:srgbClr val="475B76"/>
                </a:solidFill>
                <a:effectLst/>
                <a:uFillTx/>
                <a:latin typeface="DM Sans"/>
                <a:ea typeface="DM Sans"/>
              </a:rPr>
              <a:t>G</a:t>
            </a:r>
            <a:r>
              <a:rPr lang="en-US" sz="980" b="0" u="none" strike="noStrike">
                <a:solidFill>
                  <a:srgbClr val="475B76"/>
                </a:solidFill>
                <a:effectLst/>
                <a:uFillTx/>
                <a:latin typeface="DM Sans"/>
                <a:ea typeface="DM Sans"/>
              </a:rPr>
              <a:t> </a:t>
            </a:r>
            <a:r>
              <a:rPr lang="en-US" sz="980" b="0" u="none" strike="noStrike">
                <a:solidFill>
                  <a:srgbClr val="475B76"/>
                </a:solidFill>
                <a:effectLst/>
                <a:uFillTx/>
                <a:latin typeface="DM Sans"/>
                <a:ea typeface="DM Sans"/>
              </a:rPr>
              <a:t>m</a:t>
            </a:r>
            <a:r>
              <a:rPr lang="en-US" sz="980" b="0" u="none" strike="noStrike">
                <a:solidFill>
                  <a:srgbClr val="475B76"/>
                </a:solidFill>
                <a:effectLst/>
                <a:uFillTx/>
                <a:latin typeface="DM Sans"/>
                <a:ea typeface="DM Sans"/>
              </a:rPr>
              <a:t>i</a:t>
            </a:r>
            <a:r>
              <a:rPr lang="en-US" sz="980" b="0" u="none" strike="noStrike">
                <a:solidFill>
                  <a:srgbClr val="475B76"/>
                </a:solidFill>
                <a:effectLst/>
                <a:uFillTx/>
                <a:latin typeface="DM Sans"/>
                <a:ea typeface="DM Sans"/>
              </a:rPr>
              <a:t>n</a:t>
            </a:r>
            <a:r>
              <a:rPr lang="en-US" sz="980" b="0" u="none" strike="noStrike">
                <a:solidFill>
                  <a:srgbClr val="475B76"/>
                </a:solidFill>
                <a:effectLst/>
                <a:uFillTx/>
                <a:latin typeface="DM Sans"/>
                <a:ea typeface="DM Sans"/>
              </a:rPr>
              <a:t> </a:t>
            </a:r>
            <a:r>
              <a:rPr lang="en-US" sz="980" b="0" u="none" strike="noStrike">
                <a:solidFill>
                  <a:srgbClr val="475B76"/>
                </a:solidFill>
                <a:effectLst/>
                <a:uFillTx/>
                <a:latin typeface="DM Sans"/>
                <a:ea typeface="DM Sans"/>
              </a:rPr>
              <a:t>3</a:t>
            </a:r>
            <a:r>
              <a:rPr lang="en-US" sz="980" b="0" u="none" strike="noStrike">
                <a:solidFill>
                  <a:srgbClr val="475B76"/>
                </a:solidFill>
                <a:effectLst/>
                <a:uFillTx/>
                <a:latin typeface="DM Sans"/>
                <a:ea typeface="DM Sans"/>
              </a:rPr>
              <a:t> </a:t>
            </a:r>
            <a:r>
              <a:rPr lang="en-US" sz="980" b="0" u="none" strike="noStrike">
                <a:solidFill>
                  <a:srgbClr val="475B76"/>
                </a:solidFill>
                <a:effectLst/>
                <a:uFillTx/>
                <a:latin typeface="DM Sans"/>
                <a:ea typeface="DM Sans"/>
              </a:rPr>
              <a:t>/</a:t>
            </a:r>
            <a:r>
              <a:rPr lang="en-US" sz="980" b="0" u="none" strike="noStrike">
                <a:solidFill>
                  <a:srgbClr val="475B76"/>
                </a:solidFill>
                <a:effectLst/>
                <a:uFillTx/>
                <a:latin typeface="DM Sans"/>
                <a:ea typeface="DM Sans"/>
              </a:rPr>
              <a:t> </a:t>
            </a:r>
            <a:r>
              <a:rPr lang="en-US" sz="980" b="0" u="none" strike="noStrike">
                <a:solidFill>
                  <a:srgbClr val="475B76"/>
                </a:solidFill>
                <a:effectLst/>
                <a:uFillTx/>
                <a:latin typeface="DM Sans"/>
                <a:ea typeface="DM Sans"/>
              </a:rPr>
              <a:t>d</a:t>
            </a:r>
            <a:r>
              <a:rPr lang="en-US" sz="980" b="0" u="none" strike="noStrike">
                <a:solidFill>
                  <a:srgbClr val="475B76"/>
                </a:solidFill>
                <a:effectLst/>
                <a:uFillTx/>
                <a:latin typeface="DM Sans"/>
                <a:ea typeface="DM Sans"/>
              </a:rPr>
              <a:t>e</a:t>
            </a:r>
            <a:r>
              <a:rPr lang="en-US" sz="980" b="0" u="none" strike="noStrike">
                <a:solidFill>
                  <a:srgbClr val="475B76"/>
                </a:solidFill>
                <a:effectLst/>
                <a:uFillTx/>
                <a:latin typeface="DM Sans"/>
                <a:ea typeface="DM Sans"/>
              </a:rPr>
              <a:t>s</a:t>
            </a:r>
            <a:r>
              <a:rPr lang="en-US" sz="980" b="0" u="none" strike="noStrike">
                <a:solidFill>
                  <a:srgbClr val="475B76"/>
                </a:solidFill>
                <a:effectLst/>
                <a:uFillTx/>
                <a:latin typeface="DM Sans"/>
                <a:ea typeface="DM Sans"/>
              </a:rPr>
              <a:t>i</a:t>
            </a:r>
            <a:r>
              <a:rPr lang="en-US" sz="980" b="0" u="none" strike="noStrike">
                <a:solidFill>
                  <a:srgbClr val="475B76"/>
                </a:solidFill>
                <a:effectLst/>
                <a:uFillTx/>
                <a:latin typeface="DM Sans"/>
                <a:ea typeface="DM Sans"/>
              </a:rPr>
              <a:t>r</a:t>
            </a:r>
            <a:r>
              <a:rPr lang="en-US" sz="980" b="0" u="none" strike="noStrike">
                <a:solidFill>
                  <a:srgbClr val="475B76"/>
                </a:solidFill>
                <a:effectLst/>
                <a:uFillTx/>
                <a:latin typeface="DM Sans"/>
                <a:ea typeface="DM Sans"/>
              </a:rPr>
              <a:t>e</a:t>
            </a:r>
            <a:r>
              <a:rPr lang="en-US" sz="980" b="0" u="none" strike="noStrike">
                <a:solidFill>
                  <a:srgbClr val="475B76"/>
                </a:solidFill>
                <a:effectLst/>
                <a:uFillTx/>
                <a:latin typeface="DM Sans"/>
                <a:ea typeface="DM Sans"/>
              </a:rPr>
              <a:t>d</a:t>
            </a:r>
            <a:r>
              <a:rPr lang="en-US" sz="980" b="0" u="none" strike="noStrike">
                <a:solidFill>
                  <a:srgbClr val="475B76"/>
                </a:solidFill>
                <a:effectLst/>
                <a:uFillTx/>
                <a:latin typeface="DM Sans"/>
                <a:ea typeface="DM Sans"/>
              </a:rPr>
              <a:t> </a:t>
            </a:r>
            <a:r>
              <a:rPr lang="en-US" sz="980" b="0" u="none" strike="noStrike">
                <a:solidFill>
                  <a:srgbClr val="475B76"/>
                </a:solidFill>
                <a:effectLst/>
                <a:uFillTx/>
                <a:latin typeface="DM Sans"/>
                <a:ea typeface="DM Sans"/>
              </a:rPr>
              <a:t>3</a:t>
            </a:r>
            <a:r>
              <a:rPr lang="en-US" sz="980" b="0" u="none" strike="noStrike">
                <a:solidFill>
                  <a:srgbClr val="475B76"/>
                </a:solidFill>
                <a:effectLst/>
                <a:uFillTx/>
                <a:latin typeface="DM Sans"/>
                <a:ea typeface="DM Sans"/>
              </a:rPr>
              <a:t> </a:t>
            </a:r>
            <a:r>
              <a:rPr lang="en-US" sz="980" b="0" u="none" strike="noStrike">
                <a:solidFill>
                  <a:srgbClr val="475B76"/>
                </a:solidFill>
                <a:effectLst/>
                <a:uFillTx/>
                <a:latin typeface="DM Sans"/>
                <a:ea typeface="DM Sans"/>
              </a:rPr>
              <a:t>/</a:t>
            </a:r>
            <a:r>
              <a:rPr lang="en-US" sz="980" b="0" u="none" strike="noStrike">
                <a:solidFill>
                  <a:srgbClr val="475B76"/>
                </a:solidFill>
                <a:effectLst/>
                <a:uFillTx/>
                <a:latin typeface="DM Sans"/>
                <a:ea typeface="DM Sans"/>
              </a:rPr>
              <a:t> </a:t>
            </a:r>
            <a:r>
              <a:rPr lang="en-US" sz="980" b="0" u="none" strike="noStrike">
                <a:solidFill>
                  <a:srgbClr val="475B76"/>
                </a:solidFill>
                <a:effectLst/>
                <a:uFillTx/>
                <a:latin typeface="DM Sans"/>
                <a:ea typeface="DM Sans"/>
              </a:rPr>
              <a:t>m</a:t>
            </a:r>
            <a:r>
              <a:rPr lang="en-US" sz="980" b="0" u="none" strike="noStrike">
                <a:solidFill>
                  <a:srgbClr val="475B76"/>
                </a:solidFill>
                <a:effectLst/>
                <a:uFillTx/>
                <a:latin typeface="DM Sans"/>
                <a:ea typeface="DM Sans"/>
              </a:rPr>
              <a:t>a</a:t>
            </a:r>
            <a:r>
              <a:rPr lang="en-US" sz="980" b="0" u="none" strike="noStrike">
                <a:solidFill>
                  <a:srgbClr val="475B76"/>
                </a:solidFill>
                <a:effectLst/>
                <a:uFillTx/>
                <a:latin typeface="DM Sans"/>
                <a:ea typeface="DM Sans"/>
              </a:rPr>
              <a:t>x</a:t>
            </a:r>
            <a:r>
              <a:rPr lang="en-US" sz="980" b="0" u="none" strike="noStrike">
                <a:solidFill>
                  <a:srgbClr val="475B76"/>
                </a:solidFill>
                <a:effectLst/>
                <a:uFillTx/>
                <a:latin typeface="DM Sans"/>
                <a:ea typeface="DM Sans"/>
              </a:rPr>
              <a:t> </a:t>
            </a:r>
            <a:r>
              <a:rPr lang="en-US" sz="980" b="0" u="none" strike="noStrike">
                <a:solidFill>
                  <a:srgbClr val="475B76"/>
                </a:solidFill>
                <a:effectLst/>
                <a:uFillTx/>
                <a:latin typeface="DM Sans"/>
                <a:ea typeface="DM Sans"/>
              </a:rPr>
              <a:t>6</a:t>
            </a:r>
            <a:r>
              <a:rPr lang="en-US" sz="980" b="0" u="none" strike="noStrike">
                <a:solidFill>
                  <a:srgbClr val="475B76"/>
                </a:solidFill>
                <a:effectLst/>
                <a:uFillTx/>
                <a:latin typeface="DM Sans"/>
                <a:ea typeface="DM Sans"/>
              </a:rPr>
              <a:t>.</a:t>
            </a:r>
            <a:r>
              <a:rPr lang="en-US" sz="980" b="0" u="none" strike="noStrike">
                <a:solidFill>
                  <a:srgbClr val="475B76"/>
                </a:solidFill>
                <a:effectLst/>
                <a:uFillTx/>
                <a:latin typeface="DM Sans"/>
                <a:ea typeface="DM Sans"/>
              </a:rPr>
              <a:t> </a:t>
            </a:r>
            <a:r>
              <a:rPr lang="en-US" sz="980" b="0" u="none" strike="noStrike">
                <a:solidFill>
                  <a:srgbClr val="475B76"/>
                </a:solidFill>
                <a:effectLst/>
                <a:uFillTx/>
                <a:latin typeface="DM Sans"/>
                <a:ea typeface="DM Sans"/>
              </a:rPr>
              <a:t>I</a:t>
            </a:r>
            <a:r>
              <a:rPr lang="en-US" sz="980" b="0" u="none" strike="noStrike">
                <a:solidFill>
                  <a:srgbClr val="475B76"/>
                </a:solidFill>
                <a:effectLst/>
                <a:uFillTx/>
                <a:latin typeface="DM Sans"/>
                <a:ea typeface="DM Sans"/>
              </a:rPr>
              <a:t>n</a:t>
            </a:r>
            <a:r>
              <a:rPr lang="en-US" sz="980" b="0" u="none" strike="noStrike">
                <a:solidFill>
                  <a:srgbClr val="475B76"/>
                </a:solidFill>
                <a:effectLst/>
                <a:uFillTx/>
                <a:latin typeface="DM Sans"/>
                <a:ea typeface="DM Sans"/>
              </a:rPr>
              <a:t>s</a:t>
            </a:r>
            <a:r>
              <a:rPr lang="en-US" sz="980" b="0" u="none" strike="noStrike">
                <a:solidFill>
                  <a:srgbClr val="475B76"/>
                </a:solidFill>
                <a:effectLst/>
                <a:uFillTx/>
                <a:latin typeface="DM Sans"/>
                <a:ea typeface="DM Sans"/>
              </a:rPr>
              <a:t>t</a:t>
            </a:r>
            <a:r>
              <a:rPr lang="en-US" sz="980" b="0" u="none" strike="noStrike">
                <a:solidFill>
                  <a:srgbClr val="475B76"/>
                </a:solidFill>
                <a:effectLst/>
                <a:uFillTx/>
                <a:latin typeface="DM Sans"/>
                <a:ea typeface="DM Sans"/>
              </a:rPr>
              <a:t>a</a:t>
            </a:r>
            <a:r>
              <a:rPr lang="en-US" sz="980" b="0" u="none" strike="noStrike">
                <a:solidFill>
                  <a:srgbClr val="475B76"/>
                </a:solidFill>
                <a:effectLst/>
                <a:uFillTx/>
                <a:latin typeface="DM Sans"/>
                <a:ea typeface="DM Sans"/>
              </a:rPr>
              <a:t>n</a:t>
            </a:r>
            <a:r>
              <a:rPr lang="en-US" sz="980" b="0" u="none" strike="noStrike">
                <a:solidFill>
                  <a:srgbClr val="475B76"/>
                </a:solidFill>
                <a:effectLst/>
                <a:uFillTx/>
                <a:latin typeface="DM Sans"/>
                <a:ea typeface="DM Sans"/>
              </a:rPr>
              <a:t>c</a:t>
            </a:r>
            <a:r>
              <a:rPr lang="en-US" sz="980" b="0" u="none" strike="noStrike">
                <a:solidFill>
                  <a:srgbClr val="475B76"/>
                </a:solidFill>
                <a:effectLst/>
                <a:uFillTx/>
                <a:latin typeface="DM Sans"/>
                <a:ea typeface="DM Sans"/>
              </a:rPr>
              <a:t>e</a:t>
            </a:r>
            <a:r>
              <a:rPr lang="en-US" sz="980" b="0" u="none" strike="noStrike">
                <a:solidFill>
                  <a:srgbClr val="475B76"/>
                </a:solidFill>
                <a:effectLst/>
                <a:uFillTx/>
                <a:latin typeface="DM Sans"/>
                <a:ea typeface="DM Sans"/>
              </a:rPr>
              <a:t> </a:t>
            </a:r>
            <a:r>
              <a:rPr lang="en-US" sz="980" b="0" u="none" strike="noStrike">
                <a:solidFill>
                  <a:srgbClr val="475B76"/>
                </a:solidFill>
                <a:effectLst/>
                <a:uFillTx/>
                <a:latin typeface="DM Sans"/>
                <a:ea typeface="DM Sans"/>
              </a:rPr>
              <a:t>r</a:t>
            </a:r>
            <a:r>
              <a:rPr lang="en-US" sz="980" b="0" u="none" strike="noStrike">
                <a:solidFill>
                  <a:srgbClr val="475B76"/>
                </a:solidFill>
                <a:effectLst/>
                <a:uFillTx/>
                <a:latin typeface="DM Sans"/>
                <a:ea typeface="DM Sans"/>
              </a:rPr>
              <a:t>e</a:t>
            </a:r>
            <a:r>
              <a:rPr lang="en-US" sz="980" b="0" u="none" strike="noStrike">
                <a:solidFill>
                  <a:srgbClr val="475B76"/>
                </a:solidFill>
                <a:effectLst/>
                <a:uFillTx/>
                <a:latin typeface="DM Sans"/>
                <a:ea typeface="DM Sans"/>
              </a:rPr>
              <a:t>f</a:t>
            </a:r>
            <a:r>
              <a:rPr lang="en-US" sz="980" b="0" u="none" strike="noStrike">
                <a:solidFill>
                  <a:srgbClr val="475B76"/>
                </a:solidFill>
                <a:effectLst/>
                <a:uFillTx/>
                <a:latin typeface="DM Sans"/>
                <a:ea typeface="DM Sans"/>
              </a:rPr>
              <a:t>r</a:t>
            </a:r>
            <a:r>
              <a:rPr lang="en-US" sz="980" b="0" u="none" strike="noStrike">
                <a:solidFill>
                  <a:srgbClr val="475B76"/>
                </a:solidFill>
                <a:effectLst/>
                <a:uFillTx/>
                <a:latin typeface="DM Sans"/>
                <a:ea typeface="DM Sans"/>
              </a:rPr>
              <a:t>e</a:t>
            </a:r>
            <a:r>
              <a:rPr lang="en-US" sz="980" b="0" u="none" strike="noStrike">
                <a:solidFill>
                  <a:srgbClr val="475B76"/>
                </a:solidFill>
                <a:effectLst/>
                <a:uFillTx/>
                <a:latin typeface="DM Sans"/>
                <a:ea typeface="DM Sans"/>
              </a:rPr>
              <a:t>s</a:t>
            </a:r>
            <a:r>
              <a:rPr lang="en-US" sz="980" b="0" u="none" strike="noStrike">
                <a:solidFill>
                  <a:srgbClr val="475B76"/>
                </a:solidFill>
                <a:effectLst/>
                <a:uFillTx/>
                <a:latin typeface="DM Sans"/>
                <a:ea typeface="DM Sans"/>
              </a:rPr>
              <a:t>h</a:t>
            </a:r>
            <a:r>
              <a:rPr lang="en-US" sz="980" b="0" u="none" strike="noStrike">
                <a:solidFill>
                  <a:srgbClr val="475B76"/>
                </a:solidFill>
                <a:effectLst/>
                <a:uFillTx/>
                <a:latin typeface="DM Sans"/>
                <a:ea typeface="DM Sans"/>
              </a:rPr>
              <a:t> </a:t>
            </a:r>
            <a:r>
              <a:rPr lang="en-US" sz="980" b="0" u="none" strike="noStrike">
                <a:solidFill>
                  <a:srgbClr val="475B76"/>
                </a:solidFill>
                <a:effectLst/>
                <a:uFillTx/>
                <a:latin typeface="DM Sans"/>
                <a:ea typeface="DM Sans"/>
              </a:rPr>
              <a:t>r</a:t>
            </a:r>
            <a:r>
              <a:rPr lang="en-US" sz="980" b="0" u="none" strike="noStrike">
                <a:solidFill>
                  <a:srgbClr val="475B76"/>
                </a:solidFill>
                <a:effectLst/>
                <a:uFillTx/>
                <a:latin typeface="DM Sans"/>
                <a:ea typeface="DM Sans"/>
              </a:rPr>
              <a:t>e</a:t>
            </a:r>
            <a:r>
              <a:rPr lang="en-US" sz="980" b="0" u="none" strike="noStrike">
                <a:solidFill>
                  <a:srgbClr val="475B76"/>
                </a:solidFill>
                <a:effectLst/>
                <a:uFillTx/>
                <a:latin typeface="DM Sans"/>
                <a:ea typeface="DM Sans"/>
              </a:rPr>
              <a:t>p</a:t>
            </a:r>
            <a:r>
              <a:rPr lang="en-US" sz="980" b="0" u="none" strike="noStrike">
                <a:solidFill>
                  <a:srgbClr val="475B76"/>
                </a:solidFill>
                <a:effectLst/>
                <a:uFillTx/>
                <a:latin typeface="DM Sans"/>
                <a:ea typeface="DM Sans"/>
              </a:rPr>
              <a:t>l</a:t>
            </a:r>
            <a:r>
              <a:rPr lang="en-US" sz="980" b="0" u="none" strike="noStrike">
                <a:solidFill>
                  <a:srgbClr val="475B76"/>
                </a:solidFill>
                <a:effectLst/>
                <a:uFillTx/>
                <a:latin typeface="DM Sans"/>
                <a:ea typeface="DM Sans"/>
              </a:rPr>
              <a:t>a</a:t>
            </a:r>
            <a:r>
              <a:rPr lang="en-US" sz="980" b="0" u="none" strike="noStrike">
                <a:solidFill>
                  <a:srgbClr val="475B76"/>
                </a:solidFill>
                <a:effectLst/>
                <a:uFillTx/>
                <a:latin typeface="DM Sans"/>
                <a:ea typeface="DM Sans"/>
              </a:rPr>
              <a:t>c</a:t>
            </a:r>
            <a:r>
              <a:rPr lang="en-US" sz="980" b="0" u="none" strike="noStrike">
                <a:solidFill>
                  <a:srgbClr val="475B76"/>
                </a:solidFill>
                <a:effectLst/>
                <a:uFillTx/>
                <a:latin typeface="DM Sans"/>
                <a:ea typeface="DM Sans"/>
              </a:rPr>
              <a:t>e</a:t>
            </a:r>
            <a:r>
              <a:rPr lang="en-US" sz="980" b="0" u="none" strike="noStrike">
                <a:solidFill>
                  <a:srgbClr val="475B76"/>
                </a:solidFill>
                <a:effectLst/>
                <a:uFillTx/>
                <a:latin typeface="DM Sans"/>
                <a:ea typeface="DM Sans"/>
              </a:rPr>
              <a:t>s</a:t>
            </a:r>
            <a:r>
              <a:rPr lang="en-US" sz="980" b="0" u="none" strike="noStrike">
                <a:solidFill>
                  <a:srgbClr val="475B76"/>
                </a:solidFill>
                <a:effectLst/>
                <a:uFillTx/>
                <a:latin typeface="DM Sans"/>
                <a:ea typeface="DM Sans"/>
              </a:rPr>
              <a:t> </a:t>
            </a:r>
            <a:r>
              <a:rPr lang="en-US" sz="980" b="0" u="none" strike="noStrike">
                <a:solidFill>
                  <a:srgbClr val="475B76"/>
                </a:solidFill>
                <a:effectLst/>
                <a:uFillTx/>
                <a:latin typeface="DM Sans"/>
                <a:ea typeface="DM Sans"/>
              </a:rPr>
              <a:t>w</a:t>
            </a:r>
            <a:r>
              <a:rPr lang="en-US" sz="980" b="0" u="none" strike="noStrike">
                <a:solidFill>
                  <a:srgbClr val="475B76"/>
                </a:solidFill>
                <a:effectLst/>
                <a:uFillTx/>
                <a:latin typeface="DM Sans"/>
                <a:ea typeface="DM Sans"/>
              </a:rPr>
              <a:t>i</a:t>
            </a:r>
            <a:r>
              <a:rPr lang="en-US" sz="980" b="0" u="none" strike="noStrike">
                <a:solidFill>
                  <a:srgbClr val="475B76"/>
                </a:solidFill>
                <a:effectLst/>
                <a:uFillTx/>
                <a:latin typeface="DM Sans"/>
                <a:ea typeface="DM Sans"/>
              </a:rPr>
              <a:t>t</a:t>
            </a:r>
            <a:r>
              <a:rPr lang="en-US" sz="980" b="0" u="none" strike="noStrike">
                <a:solidFill>
                  <a:srgbClr val="475B76"/>
                </a:solidFill>
                <a:effectLst/>
                <a:uFillTx/>
                <a:latin typeface="DM Sans"/>
                <a:ea typeface="DM Sans"/>
              </a:rPr>
              <a:t>h</a:t>
            </a:r>
            <a:r>
              <a:rPr lang="en-US" sz="980" b="0" u="none" strike="noStrike">
                <a:solidFill>
                  <a:srgbClr val="475B76"/>
                </a:solidFill>
                <a:effectLst/>
                <a:uFillTx/>
                <a:latin typeface="DM Sans"/>
                <a:ea typeface="DM Sans"/>
              </a:rPr>
              <a:t> </a:t>
            </a:r>
            <a:r>
              <a:rPr lang="en-US" sz="980" b="0" u="none" strike="noStrike">
                <a:solidFill>
                  <a:srgbClr val="475B76"/>
                </a:solidFill>
                <a:effectLst/>
                <a:uFillTx/>
                <a:latin typeface="DM Sans"/>
                <a:ea typeface="DM Sans"/>
              </a:rPr>
              <a:t>l</a:t>
            </a:r>
            <a:r>
              <a:rPr lang="en-US" sz="980" b="0" u="none" strike="noStrike">
                <a:solidFill>
                  <a:srgbClr val="475B76"/>
                </a:solidFill>
                <a:effectLst/>
                <a:uFillTx/>
                <a:latin typeface="DM Sans"/>
                <a:ea typeface="DM Sans"/>
              </a:rPr>
              <a:t>a</a:t>
            </a:r>
            <a:r>
              <a:rPr lang="en-US" sz="980" b="0" u="none" strike="noStrike">
                <a:solidFill>
                  <a:srgbClr val="475B76"/>
                </a:solidFill>
                <a:effectLst/>
                <a:uFillTx/>
                <a:latin typeface="DM Sans"/>
                <a:ea typeface="DM Sans"/>
              </a:rPr>
              <a:t>u</a:t>
            </a:r>
            <a:r>
              <a:rPr lang="en-US" sz="980" b="0" u="none" strike="noStrike">
                <a:solidFill>
                  <a:srgbClr val="475B76"/>
                </a:solidFill>
                <a:effectLst/>
                <a:uFillTx/>
                <a:latin typeface="DM Sans"/>
                <a:ea typeface="DM Sans"/>
              </a:rPr>
              <a:t>n</a:t>
            </a:r>
            <a:r>
              <a:rPr lang="en-US" sz="980" b="0" u="none" strike="noStrike">
                <a:solidFill>
                  <a:srgbClr val="475B76"/>
                </a:solidFill>
                <a:effectLst/>
                <a:uFillTx/>
                <a:latin typeface="DM Sans"/>
                <a:ea typeface="DM Sans"/>
              </a:rPr>
              <a:t>c</a:t>
            </a:r>
            <a:r>
              <a:rPr lang="en-US" sz="980" b="0" u="none" strike="noStrike">
                <a:solidFill>
                  <a:srgbClr val="475B76"/>
                </a:solidFill>
                <a:effectLst/>
                <a:uFillTx/>
                <a:latin typeface="DM Sans"/>
                <a:ea typeface="DM Sans"/>
              </a:rPr>
              <a:t>h</a:t>
            </a:r>
            <a:r>
              <a:rPr lang="en-US" sz="980" b="0" u="none" strike="noStrike">
                <a:solidFill>
                  <a:srgbClr val="475B76"/>
                </a:solidFill>
                <a:effectLst/>
                <a:uFillTx/>
                <a:latin typeface="DM Sans"/>
                <a:ea typeface="DM Sans"/>
              </a:rPr>
              <a:t> </a:t>
            </a:r>
            <a:r>
              <a:rPr lang="en-US" sz="980" b="0" u="none" strike="noStrike">
                <a:solidFill>
                  <a:srgbClr val="475B76"/>
                </a:solidFill>
                <a:effectLst/>
                <a:uFillTx/>
                <a:latin typeface="DM Sans"/>
                <a:ea typeface="DM Sans"/>
              </a:rPr>
              <a:t>t</a:t>
            </a:r>
            <a:r>
              <a:rPr lang="en-US" sz="980" b="0" u="none" strike="noStrike">
                <a:solidFill>
                  <a:srgbClr val="475B76"/>
                </a:solidFill>
                <a:effectLst/>
                <a:uFillTx/>
                <a:latin typeface="DM Sans"/>
                <a:ea typeface="DM Sans"/>
              </a:rPr>
              <a:t>e</a:t>
            </a:r>
            <a:r>
              <a:rPr lang="en-US" sz="980" b="0" u="none" strike="noStrike">
                <a:solidFill>
                  <a:srgbClr val="475B76"/>
                </a:solidFill>
                <a:effectLst/>
                <a:uFillTx/>
                <a:latin typeface="DM Sans"/>
                <a:ea typeface="DM Sans"/>
              </a:rPr>
              <a:t>m</a:t>
            </a:r>
            <a:r>
              <a:rPr lang="en-US" sz="980" b="0" u="none" strike="noStrike">
                <a:solidFill>
                  <a:srgbClr val="475B76"/>
                </a:solidFill>
                <a:effectLst/>
                <a:uFillTx/>
                <a:latin typeface="DM Sans"/>
                <a:ea typeface="DM Sans"/>
              </a:rPr>
              <a:t>p</a:t>
            </a:r>
            <a:r>
              <a:rPr lang="en-US" sz="980" b="0" u="none" strike="noStrike">
                <a:solidFill>
                  <a:srgbClr val="475B76"/>
                </a:solidFill>
                <a:effectLst/>
                <a:uFillTx/>
                <a:latin typeface="DM Sans"/>
                <a:ea typeface="DM Sans"/>
              </a:rPr>
              <a:t>l</a:t>
            </a:r>
            <a:r>
              <a:rPr lang="en-US" sz="980" b="0" u="none" strike="noStrike">
                <a:solidFill>
                  <a:srgbClr val="475B76"/>
                </a:solidFill>
                <a:effectLst/>
                <a:uFillTx/>
                <a:latin typeface="DM Sans"/>
                <a:ea typeface="DM Sans"/>
              </a:rPr>
              <a:t>a</a:t>
            </a:r>
            <a:r>
              <a:rPr lang="en-US" sz="980" b="0" u="none" strike="noStrike">
                <a:solidFill>
                  <a:srgbClr val="475B76"/>
                </a:solidFill>
                <a:effectLst/>
                <a:uFillTx/>
                <a:latin typeface="DM Sans"/>
                <a:ea typeface="DM Sans"/>
              </a:rPr>
              <a:t>t</a:t>
            </a:r>
            <a:r>
              <a:rPr lang="en-US" sz="980" b="0" u="none" strike="noStrike">
                <a:solidFill>
                  <a:srgbClr val="475B76"/>
                </a:solidFill>
                <a:effectLst/>
                <a:uFillTx/>
                <a:latin typeface="DM Sans"/>
                <a:ea typeface="DM Sans"/>
              </a:rPr>
              <a:t>e</a:t>
            </a:r>
            <a:r>
              <a:rPr lang="en-US" sz="980" b="0" u="none" strike="noStrike">
                <a:solidFill>
                  <a:srgbClr val="475B76"/>
                </a:solidFill>
                <a:effectLst/>
                <a:uFillTx/>
                <a:latin typeface="DM Sans"/>
                <a:ea typeface="DM Sans"/>
              </a:rPr>
              <a:t> </a:t>
            </a:r>
            <a:r>
              <a:rPr lang="en-US" sz="980" b="0" u="none" strike="noStrike">
                <a:solidFill>
                  <a:srgbClr val="475B76"/>
                </a:solidFill>
                <a:effectLst/>
                <a:uFillTx/>
                <a:latin typeface="DM Sans"/>
                <a:ea typeface="DM Sans"/>
              </a:rPr>
              <a:t>t</a:t>
            </a:r>
            <a:r>
              <a:rPr lang="en-US" sz="980" b="0" u="none" strike="noStrike">
                <a:solidFill>
                  <a:srgbClr val="475B76"/>
                </a:solidFill>
                <a:effectLst/>
                <a:uFillTx/>
                <a:latin typeface="DM Sans"/>
                <a:ea typeface="DM Sans"/>
              </a:rPr>
              <a:t>3</a:t>
            </a:r>
            <a:r>
              <a:rPr lang="en-US" sz="980" b="0" u="none" strike="noStrike">
                <a:solidFill>
                  <a:srgbClr val="475B76"/>
                </a:solidFill>
                <a:effectLst/>
                <a:uFillTx/>
                <a:latin typeface="DM Sans"/>
                <a:ea typeface="DM Sans"/>
              </a:rPr>
              <a:t>.</a:t>
            </a:r>
            <a:r>
              <a:rPr lang="en-US" sz="980" b="0" u="none" strike="noStrike">
                <a:solidFill>
                  <a:srgbClr val="475B76"/>
                </a:solidFill>
                <a:effectLst/>
                <a:uFillTx/>
                <a:latin typeface="DM Sans"/>
                <a:ea typeface="DM Sans"/>
              </a:rPr>
              <a:t>m</a:t>
            </a:r>
            <a:r>
              <a:rPr lang="en-US" sz="980" b="0" u="none" strike="noStrike">
                <a:solidFill>
                  <a:srgbClr val="475B76"/>
                </a:solidFill>
                <a:effectLst/>
                <a:uFillTx/>
                <a:latin typeface="DM Sans"/>
                <a:ea typeface="DM Sans"/>
              </a:rPr>
              <a:t>i</a:t>
            </a:r>
            <a:r>
              <a:rPr lang="en-US" sz="980" b="0" u="none" strike="noStrike">
                <a:solidFill>
                  <a:srgbClr val="475B76"/>
                </a:solidFill>
                <a:effectLst/>
                <a:uFillTx/>
                <a:latin typeface="DM Sans"/>
                <a:ea typeface="DM Sans"/>
              </a:rPr>
              <a:t>c</a:t>
            </a:r>
            <a:r>
              <a:rPr lang="en-US" sz="980" b="0" u="none" strike="noStrike">
                <a:solidFill>
                  <a:srgbClr val="475B76"/>
                </a:solidFill>
                <a:effectLst/>
                <a:uFillTx/>
                <a:latin typeface="DM Sans"/>
                <a:ea typeface="DM Sans"/>
              </a:rPr>
              <a:t>r</a:t>
            </a:r>
            <a:r>
              <a:rPr lang="en-US" sz="980" b="0" u="none" strike="noStrike">
                <a:solidFill>
                  <a:srgbClr val="475B76"/>
                </a:solidFill>
                <a:effectLst/>
                <a:uFillTx/>
                <a:latin typeface="DM Sans"/>
                <a:ea typeface="DM Sans"/>
              </a:rPr>
              <a:t>o</a:t>
            </a:r>
            <a:r>
              <a:rPr lang="en-US" sz="980" b="0" u="none" strike="noStrike">
                <a:solidFill>
                  <a:srgbClr val="475B76"/>
                </a:solidFill>
                <a:effectLst/>
                <a:uFillTx/>
                <a:latin typeface="DM Sans"/>
                <a:ea typeface="DM Sans"/>
              </a:rPr>
              <a:t> </a:t>
            </a:r>
            <a:r>
              <a:rPr lang="en-US" sz="980" b="0" u="none" strike="noStrike">
                <a:solidFill>
                  <a:srgbClr val="475B76"/>
                </a:solidFill>
                <a:effectLst/>
                <a:uFillTx/>
                <a:latin typeface="DM Sans"/>
                <a:ea typeface="DM Sans"/>
              </a:rPr>
              <a:t>A</a:t>
            </a:r>
            <a:r>
              <a:rPr lang="en-US" sz="980" b="0" u="none" strike="noStrike">
                <a:solidFill>
                  <a:srgbClr val="475B76"/>
                </a:solidFill>
                <a:effectLst/>
                <a:uFillTx/>
                <a:latin typeface="DM Sans"/>
                <a:ea typeface="DM Sans"/>
              </a:rPr>
              <a:t>L</a:t>
            </a:r>
            <a:r>
              <a:rPr lang="en-US" sz="980" b="0" u="none" strike="noStrike">
                <a:solidFill>
                  <a:srgbClr val="475B76"/>
                </a:solidFill>
                <a:effectLst/>
                <a:uFillTx/>
                <a:latin typeface="DM Sans"/>
                <a:ea typeface="DM Sans"/>
              </a:rPr>
              <a:t>2</a:t>
            </a:r>
            <a:r>
              <a:rPr lang="en-US" sz="980" b="0" u="none" strike="noStrike">
                <a:solidFill>
                  <a:srgbClr val="475B76"/>
                </a:solidFill>
                <a:effectLst/>
                <a:uFillTx/>
                <a:latin typeface="DM Sans"/>
                <a:ea typeface="DM Sans"/>
              </a:rPr>
              <a:t>0</a:t>
            </a:r>
            <a:r>
              <a:rPr lang="en-US" sz="980" b="0" u="none" strike="noStrike">
                <a:solidFill>
                  <a:srgbClr val="475B76"/>
                </a:solidFill>
                <a:effectLst/>
                <a:uFillTx/>
                <a:latin typeface="DM Sans"/>
                <a:ea typeface="DM Sans"/>
              </a:rPr>
              <a:t>2</a:t>
            </a:r>
            <a:r>
              <a:rPr lang="en-US" sz="980" b="0" u="none" strike="noStrike">
                <a:solidFill>
                  <a:srgbClr val="475B76"/>
                </a:solidFill>
                <a:effectLst/>
                <a:uFillTx/>
                <a:latin typeface="DM Sans"/>
                <a:ea typeface="DM Sans"/>
              </a:rPr>
              <a:t>3</a:t>
            </a:r>
            <a:r>
              <a:rPr lang="en-US" sz="980" b="0" u="none" strike="noStrike">
                <a:solidFill>
                  <a:srgbClr val="475B76"/>
                </a:solidFill>
                <a:effectLst/>
                <a:uFillTx/>
                <a:latin typeface="DM Sans"/>
                <a:ea typeface="DM Sans"/>
              </a:rPr>
              <a:t>.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5" name="Image 6" descr="preencoded.png"/>
          <p:cNvPicPr/>
          <p:nvPr/>
        </p:nvPicPr>
        <p:blipFill>
          <a:blip r:embed="rId7"/>
          <a:stretch/>
        </p:blipFill>
        <p:spPr>
          <a:xfrm>
            <a:off x="5943600" y="2195280"/>
            <a:ext cx="5943240" cy="1569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6" name="Shape 11"/>
          <p:cNvSpPr/>
          <p:nvPr/>
        </p:nvSpPr>
        <p:spPr>
          <a:xfrm>
            <a:off x="6391440" y="2676600"/>
            <a:ext cx="456840" cy="456840"/>
          </a:xfrm>
          <a:prstGeom prst="roundRect">
            <a:avLst>
              <a:gd name="adj" fmla="val 25000"/>
            </a:avLst>
          </a:prstGeom>
          <a:solidFill>
            <a:srgbClr val="E2E8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7" name="Image 7" descr="preencoded.png"/>
          <p:cNvPicPr/>
          <p:nvPr/>
        </p:nvPicPr>
        <p:blipFill>
          <a:blip r:embed="rId8"/>
          <a:stretch/>
        </p:blipFill>
        <p:spPr>
          <a:xfrm>
            <a:off x="6523560" y="2823840"/>
            <a:ext cx="192600" cy="171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8" name="Text 12"/>
          <p:cNvSpPr/>
          <p:nvPr/>
        </p:nvSpPr>
        <p:spPr>
          <a:xfrm>
            <a:off x="6981840" y="2680920"/>
            <a:ext cx="4457520" cy="1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ts val="1349"/>
              </a:lnSpc>
              <a:spcAft>
                <a:spcPts val="451"/>
              </a:spcAft>
              <a:tabLst>
                <a:tab pos="0" algn="l"/>
              </a:tabLst>
            </a:pPr>
            <a:r>
              <a:rPr lang="en-US" sz="1130" b="1" u="none" spc="-11" strike="noStrike">
                <a:solidFill>
                  <a:srgbClr val="1A2433"/>
                </a:solidFill>
                <a:effectLst/>
                <a:uFillTx/>
                <a:latin typeface="Plus Jakarta Sans"/>
                <a:ea typeface="Plus Jakarta Sans"/>
              </a:rPr>
              <a:t>Cost optimized &amp; scalable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 13"/>
          <p:cNvSpPr/>
          <p:nvPr/>
        </p:nvSpPr>
        <p:spPr>
          <a:xfrm>
            <a:off x="6981840" y="2909520"/>
            <a:ext cx="445752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414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475B76"/>
                </a:solidFill>
                <a:effectLst/>
                <a:uFillTx/>
                <a:latin typeface="DM Sans"/>
                <a:ea typeface="DM Sans"/>
              </a:rPr>
              <a:t>t3.micro . Scales automatically, logs at </a:t>
            </a:r>
            <a:r>
              <a:rPr lang="en-US" sz="820" b="0" u="none" strike="noStrike">
                <a:solidFill>
                  <a:srgbClr val="475B76"/>
                </a:solidFill>
                <a:effectLst/>
                <a:uFillTx/>
                <a:latin typeface="monospace"/>
                <a:ea typeface="monospace"/>
              </a:rPr>
              <a:t>/var/log/s3-sync.log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Shape 14"/>
          <p:cNvSpPr/>
          <p:nvPr/>
        </p:nvSpPr>
        <p:spPr>
          <a:xfrm>
            <a:off x="533520" y="5867280"/>
            <a:ext cx="11124720" cy="685440"/>
          </a:xfrm>
          <a:prstGeom prst="roundRect">
            <a:avLst>
              <a:gd name="adj" fmla="val 19444"/>
            </a:avLst>
          </a:prstGeom>
          <a:solidFill>
            <a:srgbClr val="1A243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 15"/>
          <p:cNvSpPr/>
          <p:nvPr/>
        </p:nvSpPr>
        <p:spPr>
          <a:xfrm>
            <a:off x="933480" y="6119640"/>
            <a:ext cx="487620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ts val="1576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Plus Jakarta Sans"/>
                <a:ea typeface="Plus Jakarta Sans"/>
              </a:rPr>
              <a:t> Flask :5000 in /home/ec2-user/uploads • cron * * * * * • Health /health 30s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Shape 16"/>
          <p:cNvSpPr/>
          <p:nvPr/>
        </p:nvSpPr>
        <p:spPr>
          <a:xfrm>
            <a:off x="723960" y="6162840"/>
            <a:ext cx="95040" cy="95040"/>
          </a:xfrm>
          <a:prstGeom prst="roundRect">
            <a:avLst>
              <a:gd name="adj" fmla="val 50000"/>
            </a:avLst>
          </a:prstGeom>
          <a:solidFill>
            <a:srgbClr val="A0C72A"/>
          </a:solidFill>
          <a:ln w="0">
            <a:noFill/>
          </a:ln>
          <a:effectLst>
            <a:outerShdw algn="bl" blurRad="101520" dir="16200000" dist="50760" kx="0" ky="0" rotWithShape="0" sx="100000" sy="100000">
              <a:srgbClr val="A0C72A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22680" rIns="90000" bIns="2268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 17"/>
          <p:cNvSpPr/>
          <p:nvPr/>
        </p:nvSpPr>
        <p:spPr>
          <a:xfrm>
            <a:off x="8827200" y="6019920"/>
            <a:ext cx="64836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ts val="2024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A0C72A"/>
                </a:solidFill>
                <a:effectLst/>
                <a:uFillTx/>
                <a:latin typeface="Plus Jakarta Sans"/>
                <a:ea typeface="Plus Jakarta Sans"/>
              </a:rPr>
              <a:t>3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 18"/>
          <p:cNvSpPr/>
          <p:nvPr/>
        </p:nvSpPr>
        <p:spPr>
          <a:xfrm>
            <a:off x="8827200" y="6286680"/>
            <a:ext cx="648360" cy="1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ts val="1125"/>
              </a:lnSpc>
              <a:spcBef>
                <a:spcPts val="150"/>
              </a:spcBef>
              <a:tabLst>
                <a:tab pos="0" algn="l"/>
              </a:tabLst>
            </a:pPr>
            <a:r>
              <a:rPr lang="en-US" sz="750" b="0" u="none" spc="51" strike="noStrike">
                <a:solidFill>
                  <a:srgbClr val="FFFFFF">
                    <a:alpha val="60000"/>
                  </a:srgbClr>
                </a:solidFill>
                <a:effectLst/>
                <a:uFillTx/>
                <a:latin typeface="DM Sans"/>
                <a:ea typeface="DM Sans"/>
              </a:rPr>
              <a:t>DESIRED EC2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 19"/>
          <p:cNvSpPr/>
          <p:nvPr/>
        </p:nvSpPr>
        <p:spPr>
          <a:xfrm>
            <a:off x="9704520" y="6019920"/>
            <a:ext cx="77040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ts val="2024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A0C72A"/>
                </a:solidFill>
                <a:effectLst/>
                <a:uFillTx/>
                <a:latin typeface="Plus Jakarta Sans"/>
                <a:ea typeface="Plus Jakarta Sans"/>
              </a:rPr>
              <a:t>60s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 20"/>
          <p:cNvSpPr/>
          <p:nvPr/>
        </p:nvSpPr>
        <p:spPr>
          <a:xfrm>
            <a:off x="9704520" y="6286680"/>
            <a:ext cx="770400" cy="1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ts val="1125"/>
              </a:lnSpc>
              <a:spcBef>
                <a:spcPts val="150"/>
              </a:spcBef>
              <a:tabLst>
                <a:tab pos="0" algn="l"/>
              </a:tabLst>
            </a:pPr>
            <a:r>
              <a:rPr lang="en-US" sz="750" b="0" u="none" spc="51" strike="noStrike">
                <a:solidFill>
                  <a:srgbClr val="FFFFFF">
                    <a:alpha val="60000"/>
                  </a:srgbClr>
                </a:solidFill>
                <a:effectLst/>
                <a:uFillTx/>
                <a:latin typeface="DM Sans"/>
                <a:ea typeface="DM Sans"/>
              </a:rPr>
              <a:t>SYNC INTERVAL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 21"/>
          <p:cNvSpPr/>
          <p:nvPr/>
        </p:nvSpPr>
        <p:spPr>
          <a:xfrm>
            <a:off x="10703880" y="6019920"/>
            <a:ext cx="76356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ts val="2024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"/>
          <p:cNvPicPr/>
          <p:nvPr/>
        </p:nvPicPr>
        <p:blipFill>
          <a:blip r:embed="rId1"/>
          <a:stretch/>
        </p:blipFill>
        <p:spPr>
          <a:xfrm>
            <a:off x="979920" y="18000"/>
            <a:ext cx="10286280" cy="6857640"/>
          </a:xfrm>
          <a:prstGeom prst="rect">
            <a:avLst/>
          </a:prstGeom>
          <a:noFill/>
          <a:ln w="3816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EE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Image 0" descr="preencoded.png"/>
          <p:cNvPicPr/>
          <p:nvPr/>
        </p:nvPicPr>
        <p:blipFill>
          <a:blip r:embed="rId1"/>
          <a:stretch/>
        </p:blipFill>
        <p:spPr>
          <a:xfrm>
            <a:off x="7620120" y="0"/>
            <a:ext cx="4571640" cy="4571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0" name="Image 1" descr="preencoded.png"/>
          <p:cNvPicPr/>
          <p:nvPr/>
        </p:nvPicPr>
        <p:blipFill>
          <a:blip r:embed="rId2"/>
          <a:stretch/>
        </p:blipFill>
        <p:spPr>
          <a:xfrm>
            <a:off x="0" y="3429000"/>
            <a:ext cx="3809520" cy="3428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1" name="Image 2" descr="preencoded.png"/>
          <p:cNvPicPr/>
          <p:nvPr/>
        </p:nvPicPr>
        <p:blipFill>
          <a:blip r:embed="rId3"/>
          <a:stretch/>
        </p:blipFill>
        <p:spPr>
          <a:xfrm>
            <a:off x="5355360" y="1073160"/>
            <a:ext cx="1480680" cy="285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2" name="Text 0"/>
          <p:cNvSpPr/>
          <p:nvPr/>
        </p:nvSpPr>
        <p:spPr>
          <a:xfrm>
            <a:off x="5488920" y="1139760"/>
            <a:ext cx="121392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algn="ctr" defTabSz="914400">
              <a:lnSpc>
                <a:spcPts val="1349"/>
              </a:lnSpc>
              <a:spcAft>
                <a:spcPts val="1650"/>
              </a:spcAft>
              <a:tabLst>
                <a:tab pos="0" algn="l"/>
              </a:tabLst>
            </a:pPr>
            <a:r>
              <a:rPr lang="en-US" sz="900" b="1" u="none" spc="108" strike="noStrike">
                <a:solidFill>
                  <a:srgbClr val="2773E4"/>
                </a:solidFill>
                <a:effectLst/>
                <a:uFillTx/>
                <a:latin typeface="DM Sans"/>
                <a:ea typeface="DM Sans"/>
              </a:rPr>
              <a:t>Q&amp;A • SAFESHARE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 1"/>
          <p:cNvSpPr/>
          <p:nvPr/>
        </p:nvSpPr>
        <p:spPr>
          <a:xfrm>
            <a:off x="4434480" y="1568520"/>
            <a:ext cx="3322800" cy="108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algn="ctr" defTabSz="914400">
              <a:lnSpc>
                <a:spcPts val="4351"/>
              </a:lnSpc>
              <a:tabLst>
                <a:tab pos="0" algn="l"/>
              </a:tabLst>
            </a:pPr>
            <a:r>
              <a:rPr lang="en-US" sz="4350" b="1" u="none" spc="-88" strike="noStrike">
                <a:solidFill>
                  <a:srgbClr val="1A2433"/>
                </a:solidFill>
                <a:effectLst/>
                <a:uFillTx/>
                <a:latin typeface="Plus Jakarta Sans"/>
                <a:ea typeface="Plus Jakarta Sans"/>
              </a:rPr>
              <a:t>T</a:t>
            </a:r>
            <a:r>
              <a:rPr lang="en-US" sz="4350" b="1" u="none" spc="-88" strike="noStrike">
                <a:solidFill>
                  <a:srgbClr val="1A2433"/>
                </a:solidFill>
                <a:effectLst/>
                <a:uFillTx/>
                <a:latin typeface="Plus Jakarta Sans"/>
                <a:ea typeface="Plus Jakarta Sans"/>
              </a:rPr>
              <a:t>h</a:t>
            </a:r>
            <a:r>
              <a:rPr lang="en-US" sz="4350" b="1" u="none" spc="-88" strike="noStrike">
                <a:solidFill>
                  <a:srgbClr val="1A2433"/>
                </a:solidFill>
                <a:effectLst/>
                <a:uFillTx/>
                <a:latin typeface="Plus Jakarta Sans"/>
                <a:ea typeface="Plus Jakarta Sans"/>
              </a:rPr>
              <a:t>a</a:t>
            </a:r>
            <a:r>
              <a:rPr lang="en-US" sz="4350" b="1" u="none" spc="-88" strike="noStrike">
                <a:solidFill>
                  <a:srgbClr val="1A2433"/>
                </a:solidFill>
                <a:effectLst/>
                <a:uFillTx/>
                <a:latin typeface="Plus Jakarta Sans"/>
                <a:ea typeface="Plus Jakarta Sans"/>
              </a:rPr>
              <a:t>n</a:t>
            </a:r>
            <a:r>
              <a:rPr lang="en-US" sz="4350" b="1" u="none" spc="-88" strike="noStrike">
                <a:solidFill>
                  <a:srgbClr val="1A2433"/>
                </a:solidFill>
                <a:effectLst/>
                <a:uFillTx/>
                <a:latin typeface="Plus Jakarta Sans"/>
                <a:ea typeface="Plus Jakarta Sans"/>
              </a:rPr>
              <a:t>k</a:t>
            </a:r>
            <a:r>
              <a:rPr lang="en-US" sz="4350" b="1" u="none" spc="-88" strike="noStrike">
                <a:solidFill>
                  <a:srgbClr val="1A2433"/>
                </a:solidFill>
                <a:effectLst/>
                <a:uFillTx/>
                <a:latin typeface="Plus Jakarta Sans"/>
                <a:ea typeface="Plus Jakarta Sans"/>
              </a:rPr>
              <a:t> </a:t>
            </a:r>
            <a:r>
              <a:rPr lang="en-US" sz="4350" b="1" u="none" spc="-88" strike="noStrike">
                <a:solidFill>
                  <a:srgbClr val="1A2433"/>
                </a:solidFill>
                <a:effectLst/>
                <a:uFillTx/>
                <a:latin typeface="Plus Jakarta Sans"/>
                <a:ea typeface="Plus Jakarta Sans"/>
              </a:rPr>
              <a:t>y</a:t>
            </a:r>
            <a:r>
              <a:rPr lang="en-US" sz="4350" b="1" u="none" spc="-88" strike="noStrike">
                <a:solidFill>
                  <a:srgbClr val="1A2433"/>
                </a:solidFill>
                <a:effectLst/>
                <a:uFillTx/>
                <a:latin typeface="Plus Jakarta Sans"/>
                <a:ea typeface="Plus Jakarta Sans"/>
              </a:rPr>
              <a:t>o</a:t>
            </a:r>
            <a:r>
              <a:rPr lang="en-US" sz="4350" b="1" u="none" spc="-88" strike="noStrike">
                <a:solidFill>
                  <a:srgbClr val="1A2433"/>
                </a:solidFill>
                <a:effectLst/>
                <a:uFillTx/>
                <a:latin typeface="Plus Jakarta Sans"/>
                <a:ea typeface="Plus Jakarta Sans"/>
              </a:rPr>
              <a:t>u</a:t>
            </a:r>
            <a:r>
              <a:rPr lang="en-US" sz="4350" b="1" u="none" spc="-88" strike="noStrike">
                <a:solidFill>
                  <a:srgbClr val="1A2433"/>
                </a:solidFill>
                <a:effectLst/>
                <a:uFillTx/>
                <a:latin typeface="Plus Jakarta Sans"/>
                <a:ea typeface="Plus Jakarta Sans"/>
              </a:rPr>
              <a:t>!</a:t>
            </a:r>
            <a:endParaRPr lang="en-US" sz="4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4351"/>
              </a:lnSpc>
              <a:tabLst>
                <a:tab pos="0" algn="l"/>
              </a:tabLst>
            </a:pPr>
            <a:endParaRPr lang="en-US" sz="4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4351"/>
              </a:lnSpc>
              <a:tabLst>
                <a:tab pos="0" algn="l"/>
              </a:tabLst>
            </a:pPr>
            <a:endParaRPr lang="en-US" sz="4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4351"/>
              </a:lnSpc>
              <a:spcAft>
                <a:spcPts val="1199"/>
              </a:spcAft>
              <a:tabLst>
                <a:tab pos="0" algn="l"/>
              </a:tabLst>
            </a:pPr>
            <a:r>
              <a:rPr lang="en-US" sz="2600" b="1" u="none" spc="-88" strike="noStrike">
                <a:solidFill>
                  <a:srgbClr val="2773E4"/>
                </a:solidFill>
                <a:effectLst/>
                <a:uFillTx/>
                <a:latin typeface="DM Sans"/>
                <a:ea typeface="DM Sans"/>
              </a:rPr>
              <a:t>L</a:t>
            </a:r>
            <a:r>
              <a:rPr lang="en-US" sz="2600" b="1" u="none" spc="-88" strike="noStrike">
                <a:solidFill>
                  <a:srgbClr val="2773E4"/>
                </a:solidFill>
                <a:effectLst/>
                <a:uFillTx/>
                <a:latin typeface="DM Sans"/>
                <a:ea typeface="DM Sans"/>
              </a:rPr>
              <a:t>e</a:t>
            </a:r>
            <a:r>
              <a:rPr lang="en-US" sz="2600" b="1" u="none" spc="-88" strike="noStrike">
                <a:solidFill>
                  <a:srgbClr val="2773E4"/>
                </a:solidFill>
                <a:effectLst/>
                <a:uFillTx/>
                <a:latin typeface="DM Sans"/>
                <a:ea typeface="DM Sans"/>
              </a:rPr>
              <a:t>t</a:t>
            </a:r>
            <a:r>
              <a:rPr lang="en-US" sz="2600" b="1" u="none" spc="-88" strike="noStrike">
                <a:solidFill>
                  <a:srgbClr val="2773E4"/>
                </a:solidFill>
                <a:effectLst/>
                <a:uFillTx/>
                <a:latin typeface="DM Sans"/>
                <a:ea typeface="DM Sans"/>
              </a:rPr>
              <a:t>'</a:t>
            </a:r>
            <a:r>
              <a:rPr lang="en-US" sz="2600" b="1" u="none" spc="-88" strike="noStrike">
                <a:solidFill>
                  <a:srgbClr val="2773E4"/>
                </a:solidFill>
                <a:effectLst/>
                <a:uFillTx/>
                <a:latin typeface="DM Sans"/>
                <a:ea typeface="DM Sans"/>
              </a:rPr>
              <a:t>s</a:t>
            </a:r>
            <a:r>
              <a:rPr lang="en-US" sz="2600" b="1" u="none" spc="-88" strike="noStrike">
                <a:solidFill>
                  <a:srgbClr val="2773E4"/>
                </a:solidFill>
                <a:effectLst/>
                <a:uFillTx/>
                <a:latin typeface="DM Sans"/>
                <a:ea typeface="DM Sans"/>
              </a:rPr>
              <a:t> </a:t>
            </a:r>
            <a:r>
              <a:rPr lang="en-US" sz="2600" b="1" u="none" spc="-88" strike="noStrike">
                <a:solidFill>
                  <a:srgbClr val="2773E4"/>
                </a:solidFill>
                <a:effectLst/>
                <a:uFillTx/>
                <a:latin typeface="DM Sans"/>
                <a:ea typeface="DM Sans"/>
              </a:rPr>
              <a:t>s</a:t>
            </a:r>
            <a:r>
              <a:rPr lang="en-US" sz="2600" b="1" u="none" spc="-88" strike="noStrike">
                <a:solidFill>
                  <a:srgbClr val="2773E4"/>
                </a:solidFill>
                <a:effectLst/>
                <a:uFillTx/>
                <a:latin typeface="DM Sans"/>
                <a:ea typeface="DM Sans"/>
              </a:rPr>
              <a:t>c</a:t>
            </a:r>
            <a:r>
              <a:rPr lang="en-US" sz="2600" b="1" u="none" spc="-88" strike="noStrike">
                <a:solidFill>
                  <a:srgbClr val="2773E4"/>
                </a:solidFill>
                <a:effectLst/>
                <a:uFillTx/>
                <a:latin typeface="DM Sans"/>
                <a:ea typeface="DM Sans"/>
              </a:rPr>
              <a:t>a</a:t>
            </a:r>
            <a:r>
              <a:rPr lang="en-US" sz="2600" b="1" u="none" spc="-88" strike="noStrike">
                <a:solidFill>
                  <a:srgbClr val="2773E4"/>
                </a:solidFill>
                <a:effectLst/>
                <a:uFillTx/>
                <a:latin typeface="DM Sans"/>
                <a:ea typeface="DM Sans"/>
              </a:rPr>
              <a:t>l</a:t>
            </a:r>
            <a:r>
              <a:rPr lang="en-US" sz="2600" b="1" u="none" spc="-88" strike="noStrike">
                <a:solidFill>
                  <a:srgbClr val="2773E4"/>
                </a:solidFill>
                <a:effectLst/>
                <a:uFillTx/>
                <a:latin typeface="DM Sans"/>
                <a:ea typeface="DM Sans"/>
              </a:rPr>
              <a:t>e</a:t>
            </a:r>
            <a:r>
              <a:rPr lang="en-US" sz="2600" b="1" u="none" spc="-88" strike="noStrike">
                <a:solidFill>
                  <a:srgbClr val="2773E4"/>
                </a:solidFill>
                <a:effectLst/>
                <a:uFillTx/>
                <a:latin typeface="DM Sans"/>
                <a:ea typeface="DM Sans"/>
              </a:rPr>
              <a:t> </a:t>
            </a:r>
            <a:r>
              <a:rPr lang="en-US" sz="2600" b="1" u="none" spc="-88" strike="noStrike">
                <a:solidFill>
                  <a:srgbClr val="2773E4"/>
                </a:solidFill>
                <a:effectLst/>
                <a:uFillTx/>
                <a:latin typeface="DM Sans"/>
                <a:ea typeface="DM Sans"/>
              </a:rPr>
              <a:t>i</a:t>
            </a:r>
            <a:r>
              <a:rPr lang="en-US" sz="2600" b="1" u="none" spc="-88" strike="noStrike">
                <a:solidFill>
                  <a:srgbClr val="2773E4"/>
                </a:solidFill>
                <a:effectLst/>
                <a:uFillTx/>
                <a:latin typeface="DM Sans"/>
                <a:ea typeface="DM Sans"/>
              </a:rPr>
              <a:t>t</a:t>
            </a:r>
            <a:r>
              <a:rPr lang="en-US" sz="2600" b="1" u="none" spc="-88" strike="noStrike">
                <a:solidFill>
                  <a:srgbClr val="2773E4"/>
                </a:solidFill>
                <a:effectLst/>
                <a:uFillTx/>
                <a:latin typeface="DM Sans"/>
                <a:ea typeface="DM Sans"/>
              </a:rPr>
              <a:t>.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84" name="Image 3" descr="preencoded.png"/>
          <p:cNvPicPr/>
          <p:nvPr/>
        </p:nvPicPr>
        <p:blipFill>
          <a:blip r:embed="rId4"/>
          <a:stretch/>
        </p:blipFill>
        <p:spPr>
          <a:xfrm>
            <a:off x="3530520" y="3684600"/>
            <a:ext cx="1882440" cy="666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5" name="Shape 3"/>
          <p:cNvSpPr/>
          <p:nvPr/>
        </p:nvSpPr>
        <p:spPr>
          <a:xfrm>
            <a:off x="3790800" y="3905280"/>
            <a:ext cx="228240" cy="228240"/>
          </a:xfrm>
          <a:prstGeom prst="roundRect">
            <a:avLst>
              <a:gd name="adj" fmla="val 29167"/>
            </a:avLst>
          </a:prstGeom>
          <a:solidFill>
            <a:srgbClr val="1A243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86" name="Image 4" descr="preencoded.png"/>
          <p:cNvPicPr/>
          <p:nvPr/>
        </p:nvPicPr>
        <p:blipFill>
          <a:blip r:embed="rId5"/>
          <a:stretch/>
        </p:blipFill>
        <p:spPr>
          <a:xfrm>
            <a:off x="3852000" y="3961080"/>
            <a:ext cx="99720" cy="114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7" name="Text 4"/>
          <p:cNvSpPr/>
          <p:nvPr/>
        </p:nvSpPr>
        <p:spPr>
          <a:xfrm>
            <a:off x="4092480" y="3934800"/>
            <a:ext cx="1063440" cy="17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algn="ctr" defTabSz="914400">
              <a:lnSpc>
                <a:spcPts val="1463"/>
              </a:lnSpc>
              <a:tabLst>
                <a:tab pos="0" algn="l"/>
              </a:tabLst>
            </a:pPr>
            <a:r>
              <a:rPr lang="en-US" sz="980" b="1" u="none" strike="noStrike">
                <a:solidFill>
                  <a:srgbClr val="1A2433"/>
                </a:solidFill>
                <a:effectLst/>
                <a:uFillTx/>
                <a:latin typeface="DM Sans"/>
                <a:ea typeface="DM Sans"/>
              </a:rPr>
              <a:t>RDS for metadata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88" name="Image 5" descr="preencoded.png"/>
          <p:cNvPicPr/>
          <p:nvPr/>
        </p:nvPicPr>
        <p:blipFill>
          <a:blip r:embed="rId6"/>
          <a:stretch/>
        </p:blipFill>
        <p:spPr>
          <a:xfrm>
            <a:off x="5337360" y="3684600"/>
            <a:ext cx="1798560" cy="666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9" name="Shape 5"/>
          <p:cNvSpPr/>
          <p:nvPr/>
        </p:nvSpPr>
        <p:spPr>
          <a:xfrm>
            <a:off x="5591160" y="3905280"/>
            <a:ext cx="228240" cy="228240"/>
          </a:xfrm>
          <a:prstGeom prst="roundRect">
            <a:avLst>
              <a:gd name="adj" fmla="val 29167"/>
            </a:avLst>
          </a:prstGeom>
          <a:solidFill>
            <a:srgbClr val="2773E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90" name="Image 6" descr="preencoded.png"/>
          <p:cNvPicPr/>
          <p:nvPr/>
        </p:nvPicPr>
        <p:blipFill>
          <a:blip r:embed="rId7"/>
          <a:stretch/>
        </p:blipFill>
        <p:spPr>
          <a:xfrm>
            <a:off x="5666040" y="3961080"/>
            <a:ext cx="85320" cy="114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1" name="Text 6"/>
          <p:cNvSpPr/>
          <p:nvPr/>
        </p:nvSpPr>
        <p:spPr>
          <a:xfrm>
            <a:off x="5899320" y="3934800"/>
            <a:ext cx="979200" cy="17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algn="ctr" defTabSz="914400">
              <a:lnSpc>
                <a:spcPts val="1463"/>
              </a:lnSpc>
              <a:tabLst>
                <a:tab pos="0" algn="l"/>
              </a:tabLst>
            </a:pPr>
            <a:r>
              <a:rPr lang="en-US" sz="980" b="1" u="none" strike="noStrike">
                <a:solidFill>
                  <a:srgbClr val="1A2433"/>
                </a:solidFill>
                <a:effectLst/>
                <a:uFillTx/>
                <a:latin typeface="DM Sans"/>
                <a:ea typeface="DM Sans"/>
              </a:rPr>
              <a:t>CloudFront CDN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92" name="Image 7" descr="preencoded.png"/>
          <p:cNvPicPr/>
          <p:nvPr/>
        </p:nvPicPr>
        <p:blipFill>
          <a:blip r:embed="rId8"/>
          <a:stretch/>
        </p:blipFill>
        <p:spPr>
          <a:xfrm>
            <a:off x="7059960" y="3684600"/>
            <a:ext cx="1600920" cy="666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3" name="Shape 7"/>
          <p:cNvSpPr/>
          <p:nvPr/>
        </p:nvSpPr>
        <p:spPr>
          <a:xfrm>
            <a:off x="7315200" y="3905280"/>
            <a:ext cx="228240" cy="228240"/>
          </a:xfrm>
          <a:prstGeom prst="roundRect">
            <a:avLst>
              <a:gd name="adj" fmla="val 29167"/>
            </a:avLst>
          </a:prstGeom>
          <a:solidFill>
            <a:srgbClr val="A0C7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94" name="Image 8" descr="preencoded.png"/>
          <p:cNvPicPr/>
          <p:nvPr/>
        </p:nvPicPr>
        <p:blipFill>
          <a:blip r:embed="rId9"/>
          <a:stretch/>
        </p:blipFill>
        <p:spPr>
          <a:xfrm>
            <a:off x="7381440" y="3961080"/>
            <a:ext cx="99720" cy="114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5" name="Text 8"/>
          <p:cNvSpPr/>
          <p:nvPr/>
        </p:nvSpPr>
        <p:spPr>
          <a:xfrm>
            <a:off x="7621920" y="3934800"/>
            <a:ext cx="781560" cy="17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algn="ctr" defTabSz="914400">
              <a:lnSpc>
                <a:spcPts val="1463"/>
              </a:lnSpc>
              <a:tabLst>
                <a:tab pos="0" algn="l"/>
              </a:tabLst>
            </a:pPr>
            <a:r>
              <a:rPr lang="en-US" sz="980" b="1" u="none" strike="noStrike">
                <a:solidFill>
                  <a:srgbClr val="1A2433"/>
                </a:solidFill>
                <a:effectLst/>
                <a:uFillTx/>
                <a:latin typeface="DM Sans"/>
                <a:ea typeface="DM Sans"/>
              </a:rPr>
              <a:t>H</a:t>
            </a:r>
            <a:r>
              <a:rPr lang="en-US" sz="980" b="1" u="none" strike="noStrike">
                <a:solidFill>
                  <a:srgbClr val="1A2433"/>
                </a:solidFill>
                <a:effectLst/>
                <a:uFillTx/>
                <a:latin typeface="DM Sans"/>
                <a:ea typeface="DM Sans"/>
              </a:rPr>
              <a:t>T</a:t>
            </a:r>
            <a:r>
              <a:rPr lang="en-US" sz="980" b="1" u="none" strike="noStrike">
                <a:solidFill>
                  <a:srgbClr val="1A2433"/>
                </a:solidFill>
                <a:effectLst/>
                <a:uFillTx/>
                <a:latin typeface="DM Sans"/>
                <a:ea typeface="DM Sans"/>
              </a:rPr>
              <a:t>T</a:t>
            </a:r>
            <a:r>
              <a:rPr lang="en-US" sz="980" b="1" u="none" strike="noStrike">
                <a:solidFill>
                  <a:srgbClr val="1A2433"/>
                </a:solidFill>
                <a:effectLst/>
                <a:uFillTx/>
                <a:latin typeface="DM Sans"/>
                <a:ea typeface="DM Sans"/>
              </a:rPr>
              <a:t>P</a:t>
            </a:r>
            <a:r>
              <a:rPr lang="en-US" sz="980" b="1" u="none" strike="noStrike">
                <a:solidFill>
                  <a:srgbClr val="1A2433"/>
                </a:solidFill>
                <a:effectLst/>
                <a:uFillTx/>
                <a:latin typeface="DM Sans"/>
                <a:ea typeface="DM Sans"/>
              </a:rPr>
              <a:t>S</a:t>
            </a:r>
            <a:r>
              <a:rPr lang="en-US" sz="980" b="1" u="none" strike="noStrike">
                <a:solidFill>
                  <a:srgbClr val="1A2433"/>
                </a:solidFill>
                <a:effectLst/>
                <a:uFillTx/>
                <a:latin typeface="DM Sans"/>
                <a:ea typeface="DM Sans"/>
              </a:rPr>
              <a:t> </a:t>
            </a:r>
            <a:r>
              <a:rPr lang="en-US" sz="980" b="1" u="none" strike="noStrike">
                <a:solidFill>
                  <a:srgbClr val="1A2433"/>
                </a:solidFill>
                <a:effectLst/>
                <a:uFillTx/>
                <a:latin typeface="DM Sans"/>
                <a:ea typeface="DM Sans"/>
              </a:rPr>
              <a:t>/</a:t>
            </a:r>
            <a:r>
              <a:rPr lang="en-US" sz="980" b="1" u="none" strike="noStrike">
                <a:solidFill>
                  <a:srgbClr val="1A2433"/>
                </a:solidFill>
                <a:effectLst/>
                <a:uFillTx/>
                <a:latin typeface="DM Sans"/>
                <a:ea typeface="DM Sans"/>
              </a:rPr>
              <a:t> </a:t>
            </a:r>
            <a:r>
              <a:rPr lang="en-US" sz="980" b="1" u="none" strike="noStrike">
                <a:solidFill>
                  <a:srgbClr val="1A2433"/>
                </a:solidFill>
                <a:effectLst/>
                <a:uFillTx/>
                <a:latin typeface="DM Sans"/>
                <a:ea typeface="DM Sans"/>
              </a:rPr>
              <a:t>A</a:t>
            </a:r>
            <a:r>
              <a:rPr lang="en-US" sz="980" b="1" u="none" strike="noStrike">
                <a:solidFill>
                  <a:srgbClr val="1A2433"/>
                </a:solidFill>
                <a:effectLst/>
                <a:uFillTx/>
                <a:latin typeface="DM Sans"/>
                <a:ea typeface="DM Sans"/>
              </a:rPr>
              <a:t>C</a:t>
            </a:r>
            <a:r>
              <a:rPr lang="en-US" sz="980" b="1" u="none" strike="noStrike">
                <a:solidFill>
                  <a:srgbClr val="1A2433"/>
                </a:solidFill>
                <a:effectLst/>
                <a:uFillTx/>
                <a:latin typeface="DM Sans"/>
                <a:ea typeface="DM Sans"/>
              </a:rPr>
              <a:t>M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96" name="Image 9" descr="preencoded.png"/>
          <p:cNvPicPr/>
          <p:nvPr/>
        </p:nvPicPr>
        <p:blipFill>
          <a:blip r:embed="rId10"/>
          <a:stretch/>
        </p:blipFill>
        <p:spPr>
          <a:xfrm>
            <a:off x="5283000" y="4237200"/>
            <a:ext cx="1625760" cy="666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7" name="Shape 9"/>
          <p:cNvSpPr/>
          <p:nvPr/>
        </p:nvSpPr>
        <p:spPr>
          <a:xfrm>
            <a:off x="5543640" y="4457880"/>
            <a:ext cx="228240" cy="228240"/>
          </a:xfrm>
          <a:prstGeom prst="roundRect">
            <a:avLst>
              <a:gd name="adj" fmla="val 29167"/>
            </a:avLst>
          </a:prstGeom>
          <a:solidFill>
            <a:srgbClr val="1A243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98" name="Image 10" descr="preencoded.png"/>
          <p:cNvPicPr/>
          <p:nvPr/>
        </p:nvPicPr>
        <p:blipFill>
          <a:blip r:embed="rId11"/>
          <a:stretch/>
        </p:blipFill>
        <p:spPr>
          <a:xfrm>
            <a:off x="5597280" y="4513320"/>
            <a:ext cx="114120" cy="114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9" name="Text 10"/>
          <p:cNvSpPr/>
          <p:nvPr/>
        </p:nvSpPr>
        <p:spPr>
          <a:xfrm>
            <a:off x="5844960" y="4487040"/>
            <a:ext cx="806400" cy="17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algn="ctr" defTabSz="914400">
              <a:lnSpc>
                <a:spcPts val="1463"/>
              </a:lnSpc>
              <a:tabLst>
                <a:tab pos="0" algn="l"/>
              </a:tabLst>
            </a:pPr>
            <a:r>
              <a:rPr lang="en-US" sz="980" b="1" u="none" strike="noStrike">
                <a:solidFill>
                  <a:srgbClr val="1A2433"/>
                </a:solidFill>
                <a:effectLst/>
                <a:uFillTx/>
                <a:latin typeface="DM Sans"/>
                <a:ea typeface="DM Sans"/>
              </a:rPr>
              <a:t>S3 versioning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Shape 12"/>
          <p:cNvSpPr/>
          <p:nvPr/>
        </p:nvSpPr>
        <p:spPr>
          <a:xfrm>
            <a:off x="4781520" y="5305320"/>
            <a:ext cx="304560" cy="304560"/>
          </a:xfrm>
          <a:prstGeom prst="roundRect">
            <a:avLst>
              <a:gd name="adj" fmla="val 25000"/>
            </a:avLst>
          </a:prstGeom>
          <a:solidFill>
            <a:srgbClr val="FFFFFF">
              <a:alpha val="12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 pitchFamily="0" charset="1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</TotalTime>
  <Application>LibreOffice/26.8.0.3$Windows_AARCH64 LibreOffice_project/bce0998afefdbc355585ca324285661a2170ba77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2026-09-04T08:02:14Z</dcterms:created>
  <dc:creator>PptxGenJS</dc:creator>
  <dc:description/>
  <dc:language>en-US</dc:language>
  <cp:lastModifiedBy/>
  <dcterms:modified xsi:type="dcterms:W3CDTF">2026-09-04T11:15:03Z</dcterms:modified>
  <cp:revision>6</cp:revision>
  <dc:subject>PptxGenJS Presentation</dc:subject>
  <dc:title>SafeShare-3Tier-AWS-Architecture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11</vt:i4>
  </property>
  <property fmtid="{D5CDD505-2E9C-101B-9397-08002B2CF9AE}" pid="3" name="PresentationFormat">
    <vt:lpwstr>On-screen Show (16:9)</vt:lpwstr>
  </property>
  <property fmtid="{D5CDD505-2E9C-101B-9397-08002B2CF9AE}" pid="4" name="Slides">
    <vt:i4>11</vt:i4>
  </property>
</Properties>
</file>
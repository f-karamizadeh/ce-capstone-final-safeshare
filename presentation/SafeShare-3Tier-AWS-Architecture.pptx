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custShowLst>
    <p:custShow name="New Custom Slide Show" id="0">
      <p:sldLst>
        <p:sld r:id="rId4"/>
        <p:sld r:id="rId5"/>
        <p:sld r:id="rId6"/>
        <p:sld r:id="rId7"/>
        <p:sld r:id="rId8"/>
        <p:sld r:id="rId9"/>
        <p:sld r:id="rId10"/>
        <p:sld r:id="rId11"/>
        <p:sld r:id="rId13"/>
      </p:sldLst>
    </p:custShow>
  </p:custShow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9AA2F87-BE2C-433D-BDB0-7D33BD0A056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B05E74-49E0-4C6A-9AB4-F3A3961795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318F48-B6D4-48CC-AA1F-465A57D50EA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1EA8EF-864B-4EB2-86CA-0F2A4014BD6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D68CEE-BD99-4278-BE5C-21ED1D5908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D82083-42FD-4239-8DA4-B5A0641EF7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02A59A-9EA6-45B7-B1C9-62E0FB604AA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91DDB4-83C9-4DCB-B0E6-C7E7F9057B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C7DA11-6D29-4DF3-B038-7DE7E12A37D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7.png"/><Relationship Id="rId7" Type="http://schemas.openxmlformats.org/officeDocument/2006/relationships/image" Target="../media/image5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8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4.png"/><Relationship Id="rId9" Type="http://schemas.openxmlformats.org/officeDocument/2006/relationships/image" Target="../media/image1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1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Relationship Id="rId12" Type="http://schemas.openxmlformats.org/officeDocument/2006/relationships/image" Target="../media/image34.png"/><Relationship Id="rId13" Type="http://schemas.openxmlformats.org/officeDocument/2006/relationships/image" Target="../media/image34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0.png"/><Relationship Id="rId11" Type="http://schemas.openxmlformats.org/officeDocument/2006/relationships/image" Target="../media/image4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5.png"/><Relationship Id="rId2" Type="http://schemas.openxmlformats.org/officeDocument/2006/relationships/image" Target="../media/image46.png"/><Relationship Id="rId3" Type="http://schemas.openxmlformats.org/officeDocument/2006/relationships/image" Target="../media/image45.png"/><Relationship Id="rId4" Type="http://schemas.openxmlformats.org/officeDocument/2006/relationships/image" Target="../media/image47.png"/><Relationship Id="rId5" Type="http://schemas.openxmlformats.org/officeDocument/2006/relationships/image" Target="../media/image45.png"/><Relationship Id="rId6" Type="http://schemas.openxmlformats.org/officeDocument/2006/relationships/image" Target="../media/image48.png"/><Relationship Id="rId7" Type="http://schemas.openxmlformats.org/officeDocument/2006/relationships/image" Target="../media/image45.png"/><Relationship Id="rId8" Type="http://schemas.openxmlformats.org/officeDocument/2006/relationships/image" Target="../media/image49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0.jpe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1.png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Relationship Id="rId8" Type="http://schemas.openxmlformats.org/officeDocument/2006/relationships/image" Target="../media/image58.png"/><Relationship Id="rId9" Type="http://schemas.openxmlformats.org/officeDocument/2006/relationships/image" Target="../media/image59.png"/><Relationship Id="rId10" Type="http://schemas.openxmlformats.org/officeDocument/2006/relationships/image" Target="../media/image60.png"/><Relationship Id="rId11" Type="http://schemas.openxmlformats.org/officeDocument/2006/relationships/image" Target="../media/image6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68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533520" y="3488400"/>
            <a:ext cx="6552720" cy="1769040"/>
          </a:xfrm>
          <a:prstGeom prst="rect">
            <a:avLst/>
          </a:prstGeom>
          <a:noFill/>
          <a:ln w="0">
            <a:noFill/>
          </a:ln>
          <a:effectLst>
            <a:outerShdw algn="bl" blurRad="190440" dir="5400000" dist="19080" kx="0" ky="0" rotWithShape="0" sx="100000" sy="10000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SafeShare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3Tier Architecture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799"/>
              </a:lnSpc>
              <a:tabLst>
                <a:tab pos="0" algn="l"/>
              </a:tabLst>
            </a:pPr>
            <a:r>
              <a:rPr lang="en-US" sz="3600" b="1" u="none" spc="-96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on AWS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Microsoft YaHei"/>
              </a:rPr>
              <a:t>Capstone Portfolio / </a:t>
            </a: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DM Sans"/>
              </a:rPr>
              <a:t>Cloud Engineer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800" b="1" u="none" spc="-96" strike="noStrike">
                <a:solidFill>
                  <a:srgbClr val="FFFFFF"/>
                </a:solidFill>
                <a:effectLst/>
                <a:uFillTx/>
                <a:latin typeface="Alef"/>
                <a:ea typeface="DM Sans"/>
              </a:rPr>
              <a:t>By: Faramarz Karamizadeh Sep.2026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" name=""/>
          <p:cNvPicPr/>
          <p:nvPr/>
        </p:nvPicPr>
        <p:blipFill>
          <a:blip r:embed="rId2"/>
          <a:stretch/>
        </p:blipFill>
        <p:spPr>
          <a:xfrm>
            <a:off x="6629400" y="5456880"/>
            <a:ext cx="5486040" cy="121932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12191400" cy="919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0"/>
          <p:cNvSpPr/>
          <p:nvPr/>
        </p:nvSpPr>
        <p:spPr>
          <a:xfrm>
            <a:off x="533520" y="343080"/>
            <a:ext cx="5974920" cy="3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971"/>
              </a:lnSpc>
              <a:tabLst>
                <a:tab pos="0" algn="l"/>
              </a:tabLst>
            </a:pPr>
            <a:r>
              <a:rPr lang="en-US" sz="2700" b="1" u="none" spc="-54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Scalable sharing without single failure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2"/>
          <p:cNvSpPr/>
          <p:nvPr/>
        </p:nvSpPr>
        <p:spPr>
          <a:xfrm>
            <a:off x="533520" y="1695600"/>
            <a:ext cx="4828320" cy="438084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0">
            <a:noFill/>
          </a:ln>
          <a:effectLst>
            <a:outerShdw algn="bl" blurRad="285840" dir="5400000" dist="76320" kx="0" ky="0" rotWithShape="0" sx="100000" sy="100000">
              <a:srgbClr val="1A2433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Image 2" descr="preencoded.png"/>
          <p:cNvPicPr/>
          <p:nvPr/>
        </p:nvPicPr>
        <p:blipFill>
          <a:blip r:embed="rId2"/>
          <a:stretch/>
        </p:blipFill>
        <p:spPr>
          <a:xfrm>
            <a:off x="533520" y="1698120"/>
            <a:ext cx="4830120" cy="4380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" name="Image 3" descr="preencoded.png"/>
          <p:cNvPicPr/>
          <p:nvPr/>
        </p:nvPicPr>
        <p:blipFill>
          <a:blip r:embed="rId3"/>
          <a:stretch/>
        </p:blipFill>
        <p:spPr>
          <a:xfrm>
            <a:off x="5707440" y="112428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Image 4" descr="preencoded.png"/>
          <p:cNvPicPr/>
          <p:nvPr/>
        </p:nvPicPr>
        <p:blipFill>
          <a:blip r:embed="rId4"/>
          <a:stretch/>
        </p:blipFill>
        <p:spPr>
          <a:xfrm>
            <a:off x="6021720" y="143856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Text 3"/>
          <p:cNvSpPr/>
          <p:nvPr/>
        </p:nvSpPr>
        <p:spPr>
          <a:xfrm>
            <a:off x="6139440" y="1528920"/>
            <a:ext cx="30060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01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4"/>
          <p:cNvSpPr/>
          <p:nvPr/>
        </p:nvSpPr>
        <p:spPr>
          <a:xfrm>
            <a:off x="6593040" y="143856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Problem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5"/>
          <p:cNvSpPr/>
          <p:nvPr/>
        </p:nvSpPr>
        <p:spPr>
          <a:xfrm>
            <a:off x="6593040" y="168804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Single EC2, single disk = single point of failure. Files disappear on replacement, no HA across AZs, no scale.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5" descr="preencoded.png"/>
          <p:cNvPicPr/>
          <p:nvPr/>
        </p:nvPicPr>
        <p:blipFill>
          <a:blip r:embed="rId5"/>
          <a:stretch/>
        </p:blipFill>
        <p:spPr>
          <a:xfrm>
            <a:off x="5707440" y="231660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Image 6" descr="preencoded.png"/>
          <p:cNvPicPr/>
          <p:nvPr/>
        </p:nvPicPr>
        <p:blipFill>
          <a:blip r:embed="rId6"/>
          <a:stretch/>
        </p:blipFill>
        <p:spPr>
          <a:xfrm>
            <a:off x="6021720" y="263088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Text 6"/>
          <p:cNvSpPr/>
          <p:nvPr/>
        </p:nvSpPr>
        <p:spPr>
          <a:xfrm>
            <a:off x="6121440" y="2721600"/>
            <a:ext cx="31824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02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7"/>
          <p:cNvSpPr/>
          <p:nvPr/>
        </p:nvSpPr>
        <p:spPr>
          <a:xfrm>
            <a:off x="6593040" y="263088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Solution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6593040" y="288036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3Tier with </a:t>
            </a:r>
            <a:r>
              <a:rPr lang="en-US" sz="90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ALB → ASG → S3</a:t>
            </a: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. Stateless Flask on private EC2, central S3 for persistence, cron bidirectional sync every 60s.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7" descr="preencoded.png"/>
          <p:cNvPicPr/>
          <p:nvPr/>
        </p:nvPicPr>
        <p:blipFill>
          <a:blip r:embed="rId7"/>
          <a:stretch/>
        </p:blipFill>
        <p:spPr>
          <a:xfrm>
            <a:off x="5707440" y="350892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Image 8" descr="preencoded.png"/>
          <p:cNvPicPr/>
          <p:nvPr/>
        </p:nvPicPr>
        <p:blipFill>
          <a:blip r:embed="rId8"/>
          <a:stretch/>
        </p:blipFill>
        <p:spPr>
          <a:xfrm>
            <a:off x="6021720" y="382320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9"/>
          <p:cNvSpPr/>
          <p:nvPr/>
        </p:nvSpPr>
        <p:spPr>
          <a:xfrm>
            <a:off x="6118920" y="3913920"/>
            <a:ext cx="3207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03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0"/>
          <p:cNvSpPr/>
          <p:nvPr/>
        </p:nvSpPr>
        <p:spPr>
          <a:xfrm>
            <a:off x="6593040" y="382320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K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y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d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i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g</a:t>
            </a: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1"/>
          <p:cNvSpPr/>
          <p:nvPr/>
        </p:nvSpPr>
        <p:spPr>
          <a:xfrm>
            <a:off x="6593040" y="407268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Public ALB in public subnets, private EC2 with no public IP. Secure access via IAM policy.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15" descr="preencoded.png"/>
          <p:cNvPicPr/>
          <p:nvPr/>
        </p:nvPicPr>
        <p:blipFill>
          <a:blip r:embed="rId9"/>
          <a:stretch/>
        </p:blipFill>
        <p:spPr>
          <a:xfrm>
            <a:off x="5707800" y="4732920"/>
            <a:ext cx="6064920" cy="126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Image 17" descr="preencoded.png"/>
          <p:cNvPicPr/>
          <p:nvPr/>
        </p:nvPicPr>
        <p:blipFill>
          <a:blip r:embed="rId10"/>
          <a:stretch/>
        </p:blipFill>
        <p:spPr>
          <a:xfrm>
            <a:off x="6021720" y="5047200"/>
            <a:ext cx="418320" cy="41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 9"/>
          <p:cNvSpPr/>
          <p:nvPr/>
        </p:nvSpPr>
        <p:spPr>
          <a:xfrm>
            <a:off x="6118920" y="5137920"/>
            <a:ext cx="3207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04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6593040" y="5047200"/>
            <a:ext cx="48646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40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20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Monitoring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593040" y="5296680"/>
            <a:ext cx="4864680" cy="38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Athena+CUR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A4A64"/>
                </a:solidFill>
                <a:effectLst/>
                <a:uFillTx/>
                <a:latin typeface="DM Sans"/>
                <a:ea typeface="DM Sans"/>
              </a:rPr>
              <a:t>CloudTrail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76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533520" y="343080"/>
            <a:ext cx="4952160" cy="10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806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VPC 10.0.0.0/16 across 2 AZs — public for ALB, private for compute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" name="Image 0" descr="preencoded.png"/>
          <p:cNvPicPr/>
          <p:nvPr/>
        </p:nvPicPr>
        <p:blipFill>
          <a:blip r:embed="rId1"/>
          <a:stretch/>
        </p:blipFill>
        <p:spPr>
          <a:xfrm>
            <a:off x="228600" y="1335240"/>
            <a:ext cx="5981040" cy="5522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" name="Image 1" descr="preencoded.png"/>
          <p:cNvPicPr/>
          <p:nvPr/>
        </p:nvPicPr>
        <p:blipFill>
          <a:blip r:embed="rId2"/>
          <a:stretch/>
        </p:blipFill>
        <p:spPr>
          <a:xfrm>
            <a:off x="657360" y="1839960"/>
            <a:ext cx="5123880" cy="458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 2" descr="preencoded.png"/>
          <p:cNvPicPr/>
          <p:nvPr/>
        </p:nvPicPr>
        <p:blipFill>
          <a:blip r:embed="rId3"/>
          <a:stretch/>
        </p:blipFill>
        <p:spPr>
          <a:xfrm>
            <a:off x="6286680" y="2598120"/>
            <a:ext cx="12873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2"/>
          <p:cNvSpPr/>
          <p:nvPr/>
        </p:nvSpPr>
        <p:spPr>
          <a:xfrm>
            <a:off x="6352200" y="2657520"/>
            <a:ext cx="944280" cy="18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 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V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P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C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: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 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1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0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.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0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.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0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.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0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/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1</a:t>
            </a:r>
            <a:r>
              <a:rPr lang="en-US" sz="980" b="1" u="none" strike="noStrike">
                <a:solidFill>
                  <a:srgbClr val="FFFFFF"/>
                </a:solidFill>
                <a:effectLst/>
                <a:highlight>
                  <a:srgbClr val="1A2433"/>
                </a:highlight>
                <a:uFillTx/>
                <a:latin typeface="DM Sans"/>
                <a:ea typeface="DM Sans"/>
              </a:rPr>
              <a:t>6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3"/>
          <p:cNvSpPr/>
          <p:nvPr/>
        </p:nvSpPr>
        <p:spPr>
          <a:xfrm>
            <a:off x="6419880" y="278136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3" name="Image 3" descr="preencoded.png"/>
          <p:cNvPicPr/>
          <p:nvPr/>
        </p:nvPicPr>
        <p:blipFill>
          <a:blip r:embed="rId4"/>
          <a:stretch/>
        </p:blipFill>
        <p:spPr>
          <a:xfrm>
            <a:off x="7741800" y="2598120"/>
            <a:ext cx="12909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4"/>
          <p:cNvSpPr/>
          <p:nvPr/>
        </p:nvSpPr>
        <p:spPr>
          <a:xfrm>
            <a:off x="7960680" y="2693520"/>
            <a:ext cx="9288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highlight>
                  <a:srgbClr val="FFFFFF"/>
                </a:highlight>
                <a:uFillTx/>
                <a:latin typeface="DM Sans"/>
                <a:ea typeface="DM Sans"/>
              </a:rPr>
              <a:t> NAT → IGW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7810560" y="2781360"/>
            <a:ext cx="36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46" name="Image 4" descr="preencoded.png"/>
          <p:cNvPicPr/>
          <p:nvPr/>
        </p:nvPicPr>
        <p:blipFill>
          <a:blip r:embed="rId5"/>
          <a:stretch/>
        </p:blipFill>
        <p:spPr>
          <a:xfrm>
            <a:off x="6191280" y="299340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 6"/>
          <p:cNvSpPr/>
          <p:nvPr/>
        </p:nvSpPr>
        <p:spPr>
          <a:xfrm>
            <a:off x="6496200" y="326988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PUBLIC AZ-A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7"/>
          <p:cNvSpPr/>
          <p:nvPr/>
        </p:nvSpPr>
        <p:spPr>
          <a:xfrm>
            <a:off x="6496200" y="346500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6496200" y="370800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ALB subnet, route to IGW, high availability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5" descr="preencoded.png"/>
          <p:cNvPicPr/>
          <p:nvPr/>
        </p:nvPicPr>
        <p:blipFill>
          <a:blip r:embed="rId6"/>
          <a:stretch/>
        </p:blipFill>
        <p:spPr>
          <a:xfrm>
            <a:off x="8934480" y="299340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9"/>
          <p:cNvSpPr/>
          <p:nvPr/>
        </p:nvSpPr>
        <p:spPr>
          <a:xfrm>
            <a:off x="9239400" y="326988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PUBLIC AZ-B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0"/>
          <p:cNvSpPr/>
          <p:nvPr/>
        </p:nvSpPr>
        <p:spPr>
          <a:xfrm>
            <a:off x="9239400" y="346500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0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.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0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.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2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.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0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/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2</a:t>
            </a: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1"/>
          <p:cNvSpPr/>
          <p:nvPr/>
        </p:nvSpPr>
        <p:spPr>
          <a:xfrm>
            <a:off x="9239400" y="370800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ALB subnet second AZ, HA failover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6" descr="preencoded.png"/>
          <p:cNvPicPr/>
          <p:nvPr/>
        </p:nvPicPr>
        <p:blipFill>
          <a:blip r:embed="rId7"/>
          <a:stretch/>
        </p:blipFill>
        <p:spPr>
          <a:xfrm>
            <a:off x="6191280" y="402012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12"/>
          <p:cNvSpPr/>
          <p:nvPr/>
        </p:nvSpPr>
        <p:spPr>
          <a:xfrm>
            <a:off x="6496200" y="429660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6B8A0F"/>
                </a:solidFill>
                <a:effectLst/>
                <a:uFillTx/>
                <a:latin typeface="DM Sans"/>
                <a:ea typeface="DM Sans"/>
              </a:rPr>
              <a:t>PRIVATE AZ-A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3"/>
          <p:cNvSpPr/>
          <p:nvPr/>
        </p:nvSpPr>
        <p:spPr>
          <a:xfrm>
            <a:off x="6496200" y="449172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10.0.101.0/24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6496200" y="473472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ASG EC2, no public IP, isolated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7" descr="preencoded.png"/>
          <p:cNvPicPr/>
          <p:nvPr/>
        </p:nvPicPr>
        <p:blipFill>
          <a:blip r:embed="rId8"/>
          <a:stretch/>
        </p:blipFill>
        <p:spPr>
          <a:xfrm>
            <a:off x="8934480" y="4020120"/>
            <a:ext cx="2818800" cy="1140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15"/>
          <p:cNvSpPr/>
          <p:nvPr/>
        </p:nvSpPr>
        <p:spPr>
          <a:xfrm>
            <a:off x="9239400" y="4296600"/>
            <a:ext cx="224712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820" b="1" u="none" spc="57" strike="noStrike">
                <a:solidFill>
                  <a:srgbClr val="6B8A0F"/>
                </a:solidFill>
                <a:effectLst/>
                <a:uFillTx/>
                <a:latin typeface="DM Sans"/>
                <a:ea typeface="DM Sans"/>
              </a:rPr>
              <a:t>PRIVATE AZ-B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6"/>
          <p:cNvSpPr/>
          <p:nvPr/>
        </p:nvSpPr>
        <p:spPr>
          <a:xfrm>
            <a:off x="9239400" y="4491720"/>
            <a:ext cx="2247120" cy="2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687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113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10.0.102.0/24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7"/>
          <p:cNvSpPr/>
          <p:nvPr/>
        </p:nvSpPr>
        <p:spPr>
          <a:xfrm>
            <a:off x="9239400" y="4734720"/>
            <a:ext cx="22471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ASG EC2, SSM only access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16" descr="preencoded.png"/>
          <p:cNvPicPr/>
          <p:nvPr/>
        </p:nvPicPr>
        <p:blipFill>
          <a:blip r:embed="rId9"/>
          <a:stretch/>
        </p:blipFill>
        <p:spPr>
          <a:xfrm>
            <a:off x="9146160" y="2598480"/>
            <a:ext cx="1290960" cy="3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9184680" y="2666520"/>
            <a:ext cx="1221120" cy="265680"/>
          </a:xfrm>
          <a:prstGeom prst="rect">
            <a:avLst/>
          </a:prstGeom>
          <a:noFill/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80" b="1" u="none" strike="noStrike">
                <a:solidFill>
                  <a:srgbClr val="1A2433"/>
                </a:solidFill>
                <a:effectLst/>
                <a:highlight>
                  <a:srgbClr val="FFFFFF"/>
                </a:highlight>
                <a:uFillTx/>
                <a:latin typeface="DM Sans"/>
                <a:ea typeface="DM Sans"/>
              </a:rPr>
              <a:t>IGW → Internet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533520" y="343080"/>
            <a:ext cx="47106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806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S3 is the source of truth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Image 0" descr="preencoded.png"/>
          <p:cNvPicPr/>
          <p:nvPr/>
        </p:nvPicPr>
        <p:blipFill>
          <a:blip r:embed="rId1"/>
          <a:stretch/>
        </p:blipFill>
        <p:spPr>
          <a:xfrm>
            <a:off x="10503360" y="368640"/>
            <a:ext cx="1154160" cy="304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Text 1"/>
          <p:cNvSpPr/>
          <p:nvPr/>
        </p:nvSpPr>
        <p:spPr>
          <a:xfrm>
            <a:off x="10564920" y="444600"/>
            <a:ext cx="8877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1" u="none" spc="62" strike="noStrike">
                <a:solidFill>
                  <a:srgbClr val="1A2433"/>
                </a:solidFill>
                <a:effectLst/>
                <a:highlight>
                  <a:srgbClr val="A0C72A"/>
                </a:highlight>
                <a:uFillTx/>
                <a:latin typeface="DM Sans"/>
                <a:ea typeface="DM Sans"/>
              </a:rPr>
              <a:t>STORAGE TIER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Image 1" descr="preencoded.png"/>
          <p:cNvPicPr/>
          <p:nvPr/>
        </p:nvPicPr>
        <p:blipFill>
          <a:blip r:embed="rId2"/>
          <a:stretch/>
        </p:blipFill>
        <p:spPr>
          <a:xfrm>
            <a:off x="247680" y="1880640"/>
            <a:ext cx="7337160" cy="2856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2"/>
          <p:cNvSpPr/>
          <p:nvPr/>
        </p:nvSpPr>
        <p:spPr>
          <a:xfrm>
            <a:off x="723960" y="2471040"/>
            <a:ext cx="6384600" cy="16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7A8AA3"/>
                </a:solidFill>
                <a:effectLst/>
                <a:uFillTx/>
                <a:latin typeface="DM Sans"/>
                <a:ea typeface="DM Sans"/>
              </a:rPr>
              <a:t>#!/bin/bash — /usr/local/bin/sync-to-s3.sh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BUCKET=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"safeshare-files-99"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DIR=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"/home/ec2-user/uploads"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LOG=</a:t>
            </a:r>
            <a:r>
              <a:rPr lang="en-US" sz="939" b="0" u="none" strike="noStrike">
                <a:solidFill>
                  <a:srgbClr val="7EC8FF"/>
                </a:solidFill>
                <a:effectLst/>
                <a:uFillTx/>
                <a:latin typeface="DM Sans"/>
                <a:ea typeface="DM Sans"/>
              </a:rPr>
              <a:t>"/var/log/s3-sync.log"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7A8AA3"/>
                </a:solidFill>
                <a:effectLst/>
                <a:uFillTx/>
                <a:latin typeface="DM Sans"/>
                <a:ea typeface="DM Sans"/>
              </a:rPr>
              <a:t># Bidirectional — keeps all nodes in sync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aws s3 sync</a:t>
            </a: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$DIR s3://$BUCKET/ 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939" b="0" u="none" strike="noStrike">
                <a:solidFill>
                  <a:srgbClr val="A0C72A"/>
                </a:solidFill>
                <a:effectLst/>
                <a:uFillTx/>
                <a:latin typeface="DM Sans"/>
                <a:ea typeface="DM Sans"/>
              </a:rPr>
              <a:t>aws s3 sync</a:t>
            </a: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s3://$BUCKET/ $DIR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500"/>
              </a:lnSpc>
              <a:tabLst>
                <a:tab pos="0" algn="l"/>
              </a:tabLst>
            </a:pPr>
            <a:r>
              <a:rPr lang="en-US" sz="939" b="0" u="none" strike="noStrike">
                <a:solidFill>
                  <a:srgbClr val="E2E8F0"/>
                </a:solidFill>
                <a:effectLst/>
                <a:uFillTx/>
                <a:latin typeface="DM Sans"/>
                <a:ea typeface="DM Sans"/>
              </a:rPr>
              <a:t> chmod -R 777 $DIR; chown -R ec2-user $DIR </a:t>
            </a:r>
            <a:endParaRPr lang="en-US" sz="93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"/>
          <p:cNvSpPr/>
          <p:nvPr/>
        </p:nvSpPr>
        <p:spPr>
          <a:xfrm>
            <a:off x="533520" y="2280600"/>
            <a:ext cx="6765840" cy="2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/>
            <a:endParaRPr lang="en-US" sz="939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0" name="Image 2" descr="preencoded.png"/>
          <p:cNvPicPr/>
          <p:nvPr/>
        </p:nvPicPr>
        <p:blipFill>
          <a:blip r:embed="rId3"/>
          <a:stretch/>
        </p:blipFill>
        <p:spPr>
          <a:xfrm>
            <a:off x="533520" y="4490280"/>
            <a:ext cx="3334680" cy="6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676440" y="4623840"/>
            <a:ext cx="30492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50" b="1" u="none" spc="60" strike="noStrike">
                <a:solidFill>
                  <a:srgbClr val="6B7A91"/>
                </a:solidFill>
                <a:effectLst/>
                <a:uFillTx/>
                <a:latin typeface="DM Sans"/>
                <a:ea typeface="DM Sans"/>
              </a:rPr>
              <a:t>CRON SCHEDULE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76440" y="4804920"/>
            <a:ext cx="3049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* * * * * — every 60s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 3" descr="preencoded.png"/>
          <p:cNvPicPr/>
          <p:nvPr/>
        </p:nvPicPr>
        <p:blipFill>
          <a:blip r:embed="rId4"/>
          <a:stretch/>
        </p:blipFill>
        <p:spPr>
          <a:xfrm>
            <a:off x="3964320" y="4490280"/>
            <a:ext cx="3335040" cy="613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 6"/>
          <p:cNvSpPr/>
          <p:nvPr/>
        </p:nvSpPr>
        <p:spPr>
          <a:xfrm>
            <a:off x="4107240" y="4623840"/>
            <a:ext cx="30492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750" b="1" u="none" spc="60" strike="noStrike">
                <a:solidFill>
                  <a:srgbClr val="6B7A91"/>
                </a:solidFill>
                <a:effectLst/>
                <a:uFillTx/>
                <a:latin typeface="DM Sans"/>
                <a:ea typeface="DM Sans"/>
              </a:rPr>
              <a:t>LOG FILE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4107240" y="4804920"/>
            <a:ext cx="3049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/var/log/s3-sync.log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Image 4" descr="preencoded.png"/>
          <p:cNvPicPr/>
          <p:nvPr/>
        </p:nvPicPr>
        <p:blipFill>
          <a:blip r:embed="rId5"/>
          <a:stretch/>
        </p:blipFill>
        <p:spPr>
          <a:xfrm>
            <a:off x="7528320" y="870480"/>
            <a:ext cx="4662720" cy="5986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Image 5" descr="preencoded.png"/>
          <p:cNvPicPr/>
          <p:nvPr/>
        </p:nvPicPr>
        <p:blipFill>
          <a:blip r:embed="rId6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8" name="Image 6" descr="preencoded.png"/>
          <p:cNvPicPr/>
          <p:nvPr/>
        </p:nvPicPr>
        <p:blipFill>
          <a:blip r:embed="rId7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Image 7" descr="preencoded.png"/>
          <p:cNvPicPr/>
          <p:nvPr/>
        </p:nvPicPr>
        <p:blipFill>
          <a:blip r:embed="rId8"/>
          <a:stretch/>
        </p:blipFill>
        <p:spPr>
          <a:xfrm>
            <a:off x="7804800" y="1902960"/>
            <a:ext cx="41198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Text 8"/>
          <p:cNvSpPr/>
          <p:nvPr/>
        </p:nvSpPr>
        <p:spPr>
          <a:xfrm>
            <a:off x="7938000" y="3117600"/>
            <a:ext cx="3853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safeshare-files-99 • persistent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9"/>
          <p:cNvSpPr/>
          <p:nvPr/>
        </p:nvSpPr>
        <p:spPr>
          <a:xfrm>
            <a:off x="7800840" y="3600360"/>
            <a:ext cx="4123440" cy="589680"/>
          </a:xfrm>
          <a:prstGeom prst="roundRect">
            <a:avLst>
              <a:gd name="adj" fmla="val 19355"/>
            </a:avLst>
          </a:prstGeom>
          <a:solidFill>
            <a:srgbClr val="EEE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0"/>
          <p:cNvSpPr/>
          <p:nvPr/>
        </p:nvSpPr>
        <p:spPr>
          <a:xfrm>
            <a:off x="7934400" y="371484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0">
            <a:noFill/>
          </a:ln>
          <a:effectLst>
            <a:outerShdw algn="bl" blurRad="57240" dir="5400000" dist="19080" kx="0" ky="0" rotWithShape="0" sx="100000" sy="100000">
              <a:srgbClr val="000000">
                <a:alpha val="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Image 8" descr="preencoded.png"/>
          <p:cNvPicPr/>
          <p:nvPr/>
        </p:nvPicPr>
        <p:blipFill>
          <a:blip r:embed="rId9"/>
          <a:stretch/>
        </p:blipFill>
        <p:spPr>
          <a:xfrm>
            <a:off x="8031960" y="3798720"/>
            <a:ext cx="11592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4" name="Text 11"/>
          <p:cNvSpPr/>
          <p:nvPr/>
        </p:nvSpPr>
        <p:spPr>
          <a:xfrm>
            <a:off x="8357040" y="3722400"/>
            <a:ext cx="3292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spcAft>
                <a:spcPts val="150"/>
              </a:spcAft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Central persistent storage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2"/>
          <p:cNvSpPr/>
          <p:nvPr/>
        </p:nvSpPr>
        <p:spPr>
          <a:xfrm>
            <a:off x="8357040" y="3917520"/>
            <a:ext cx="3292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08"/>
              </a:lnSpc>
              <a:tabLst>
                <a:tab pos="0" algn="l"/>
              </a:tabLst>
            </a:pPr>
            <a:r>
              <a:rPr lang="en-US" sz="86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S3 survives instance replacement. No EFS cost, native versioning.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3"/>
          <p:cNvSpPr/>
          <p:nvPr/>
        </p:nvSpPr>
        <p:spPr>
          <a:xfrm>
            <a:off x="7800840" y="4295880"/>
            <a:ext cx="4123440" cy="742320"/>
          </a:xfrm>
          <a:prstGeom prst="roundRect">
            <a:avLst>
              <a:gd name="adj" fmla="val 15385"/>
            </a:avLst>
          </a:prstGeom>
          <a:solidFill>
            <a:srgbClr val="EEE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4"/>
          <p:cNvSpPr/>
          <p:nvPr/>
        </p:nvSpPr>
        <p:spPr>
          <a:xfrm>
            <a:off x="7934400" y="441000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0">
            <a:noFill/>
          </a:ln>
          <a:effectLst>
            <a:outerShdw algn="bl" blurRad="57240" dir="5400000" dist="19080" kx="0" ky="0" rotWithShape="0" sx="100000" sy="100000">
              <a:srgbClr val="000000">
                <a:alpha val="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Image 9" descr="preencoded.png"/>
          <p:cNvPicPr/>
          <p:nvPr/>
        </p:nvPicPr>
        <p:blipFill>
          <a:blip r:embed="rId10"/>
          <a:stretch/>
        </p:blipFill>
        <p:spPr>
          <a:xfrm>
            <a:off x="8023680" y="4499640"/>
            <a:ext cx="13248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 15"/>
          <p:cNvSpPr/>
          <p:nvPr/>
        </p:nvSpPr>
        <p:spPr>
          <a:xfrm>
            <a:off x="8357040" y="4423320"/>
            <a:ext cx="34340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spcAft>
                <a:spcPts val="150"/>
              </a:spcAft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Bidirectional sync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6"/>
          <p:cNvSpPr/>
          <p:nvPr/>
        </p:nvSpPr>
        <p:spPr>
          <a:xfrm>
            <a:off x="8357040" y="4618440"/>
            <a:ext cx="343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208"/>
              </a:lnSpc>
              <a:tabLst>
                <a:tab pos="0" algn="l"/>
              </a:tabLst>
            </a:pPr>
            <a:r>
              <a:rPr lang="en-US" sz="860" b="0" u="none" strike="noStrike">
                <a:solidFill>
                  <a:srgbClr val="5A6B86"/>
                </a:solidFill>
                <a:effectLst/>
                <a:uFillTx/>
                <a:latin typeface="DM Sans"/>
                <a:ea typeface="DM Sans"/>
              </a:rPr>
              <a:t>Upload on any EC2 → S3 → all EC2s. Delete propagates with --delete flag could implement.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7"/>
          <p:cNvSpPr/>
          <p:nvPr/>
        </p:nvSpPr>
        <p:spPr>
          <a:xfrm>
            <a:off x="7800840" y="5210280"/>
            <a:ext cx="4123440" cy="618480"/>
          </a:xfrm>
          <a:prstGeom prst="roundRect">
            <a:avLst>
              <a:gd name="adj" fmla="val 18462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18"/>
          <p:cNvSpPr/>
          <p:nvPr/>
        </p:nvSpPr>
        <p:spPr>
          <a:xfrm>
            <a:off x="7953480" y="5343480"/>
            <a:ext cx="342360" cy="342360"/>
          </a:xfrm>
          <a:prstGeom prst="roundRect">
            <a:avLst>
              <a:gd name="adj" fmla="val 27778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Image 10" descr="preencoded.png"/>
          <p:cNvPicPr/>
          <p:nvPr/>
        </p:nvPicPr>
        <p:blipFill>
          <a:blip r:embed="rId11"/>
          <a:stretch/>
        </p:blipFill>
        <p:spPr>
          <a:xfrm>
            <a:off x="8042760" y="543240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 19"/>
          <p:cNvSpPr/>
          <p:nvPr/>
        </p:nvSpPr>
        <p:spPr>
          <a:xfrm>
            <a:off x="8414280" y="5353920"/>
            <a:ext cx="23922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Fix: </a:t>
            </a: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croni</a:t>
            </a: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e on </a:t>
            </a: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AL20</a:t>
            </a: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23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0"/>
          <p:cNvSpPr/>
          <p:nvPr/>
        </p:nvSpPr>
        <p:spPr>
          <a:xfrm>
            <a:off x="8414280" y="5544360"/>
            <a:ext cx="23922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820" b="0" u="none" strike="noStrike">
                <a:solidFill>
                  <a:srgbClr val="A0AEC0"/>
                </a:solidFill>
                <a:effectLst/>
                <a:uFillTx/>
                <a:latin typeface="DM Sans"/>
                <a:ea typeface="DM Sans"/>
              </a:rPr>
              <a:t>dnf install cronie + systemctl enable crond --now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533520" y="1857240"/>
            <a:ext cx="371772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999"/>
              </a:lnSpc>
              <a:tabLst>
                <a:tab pos="0" algn="l"/>
              </a:tabLst>
            </a:pP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Pri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vat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 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by 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de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sig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n, 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se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cur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 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via 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IA</a:t>
            </a:r>
            <a:r>
              <a:rPr lang="en-US" sz="3000" b="1" u="none" spc="-60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M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533520" y="2819520"/>
            <a:ext cx="37177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687"/>
              </a:lnSpc>
              <a:tabLst>
                <a:tab pos="0" algn="l"/>
              </a:tabLst>
            </a:pPr>
            <a:r>
              <a:rPr lang="en-US" sz="1130" b="0" u="none" strike="noStrike">
                <a:solidFill>
                  <a:srgbClr val="45566F"/>
                </a:solidFill>
                <a:effectLst/>
                <a:uFillTx/>
                <a:latin typeface="DM Sans"/>
                <a:ea typeface="DM Sans"/>
              </a:rPr>
              <a:t>EC2 instances have no public IP. All access and sync is controlled by least-privilege IAM role.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Image 0" descr="preencoded.png"/>
          <p:cNvPicPr/>
          <p:nvPr/>
        </p:nvPicPr>
        <p:blipFill>
          <a:blip r:embed="rId1"/>
          <a:stretch/>
        </p:blipFill>
        <p:spPr>
          <a:xfrm>
            <a:off x="380880" y="3238560"/>
            <a:ext cx="4022640" cy="107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Shape 2"/>
          <p:cNvSpPr/>
          <p:nvPr/>
        </p:nvSpPr>
        <p:spPr>
          <a:xfrm>
            <a:off x="695160" y="3600360"/>
            <a:ext cx="342360" cy="342360"/>
          </a:xfrm>
          <a:prstGeom prst="roundRect">
            <a:avLst>
              <a:gd name="adj" fmla="val 27778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" name="Image 1" descr="preencoded.png"/>
          <p:cNvPicPr/>
          <p:nvPr/>
        </p:nvPicPr>
        <p:blipFill>
          <a:blip r:embed="rId2"/>
          <a:stretch/>
        </p:blipFill>
        <p:spPr>
          <a:xfrm>
            <a:off x="800280" y="3697920"/>
            <a:ext cx="132480" cy="1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 3"/>
          <p:cNvSpPr/>
          <p:nvPr/>
        </p:nvSpPr>
        <p:spPr>
          <a:xfrm>
            <a:off x="1133640" y="3562200"/>
            <a:ext cx="216432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No public IP 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1133640" y="3805200"/>
            <a:ext cx="21643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B7D96"/>
                </a:solidFill>
                <a:effectLst/>
                <a:uFillTx/>
                <a:latin typeface="DM Sans"/>
                <a:ea typeface="DM Sans"/>
              </a:rPr>
              <a:t>Isolated private subnets 10.0.101/102.0/24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8"/>
          <p:cNvSpPr/>
          <p:nvPr/>
        </p:nvSpPr>
        <p:spPr>
          <a:xfrm>
            <a:off x="4819680" y="2000160"/>
            <a:ext cx="6838200" cy="694440"/>
          </a:xfrm>
          <a:prstGeom prst="roundRect">
            <a:avLst>
              <a:gd name="adj" fmla="val 19178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9"/>
          <p:cNvSpPr/>
          <p:nvPr/>
        </p:nvSpPr>
        <p:spPr>
          <a:xfrm>
            <a:off x="5013720" y="2159640"/>
            <a:ext cx="29512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8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IAM Role: SafeShare-EC2-Role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0"/>
          <p:cNvSpPr/>
          <p:nvPr/>
        </p:nvSpPr>
        <p:spPr>
          <a:xfrm>
            <a:off x="5013720" y="2388240"/>
            <a:ext cx="295128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39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FFFFFF">
                    <a:alpha val="70000"/>
                  </a:srgbClr>
                </a:solidFill>
                <a:effectLst/>
                <a:uFillTx/>
                <a:latin typeface="DM Sans"/>
                <a:ea typeface="DM Sans"/>
              </a:rPr>
              <a:t>Assume: ec2.amazonaws.com • Profile: safeshare-ec2-profile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Image 4" descr="preencoded.png"/>
          <p:cNvPicPr/>
          <p:nvPr/>
        </p:nvPicPr>
        <p:blipFill>
          <a:blip r:embed="rId3"/>
          <a:stretch/>
        </p:blipFill>
        <p:spPr>
          <a:xfrm>
            <a:off x="11258640" y="2238480"/>
            <a:ext cx="208800" cy="20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Image 5" descr="preencoded.png"/>
          <p:cNvPicPr/>
          <p:nvPr/>
        </p:nvPicPr>
        <p:blipFill>
          <a:blip r:embed="rId4"/>
          <a:stretch/>
        </p:blipFill>
        <p:spPr>
          <a:xfrm>
            <a:off x="4651920" y="2612160"/>
            <a:ext cx="3692880" cy="175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Shape 11"/>
          <p:cNvSpPr/>
          <p:nvPr/>
        </p:nvSpPr>
        <p:spPr>
          <a:xfrm>
            <a:off x="5000760" y="3000240"/>
            <a:ext cx="304200" cy="304200"/>
          </a:xfrm>
          <a:prstGeom prst="roundRect">
            <a:avLst>
              <a:gd name="adj" fmla="val 28125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6" descr="preencoded.png"/>
          <p:cNvPicPr/>
          <p:nvPr/>
        </p:nvPicPr>
        <p:blipFill>
          <a:blip r:embed="rId5"/>
          <a:stretch/>
        </p:blipFill>
        <p:spPr>
          <a:xfrm>
            <a:off x="5073480" y="3088440"/>
            <a:ext cx="16596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2"/>
          <p:cNvSpPr/>
          <p:nvPr/>
        </p:nvSpPr>
        <p:spPr>
          <a:xfrm>
            <a:off x="5404320" y="3075120"/>
            <a:ext cx="146556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105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Policy 1: AWS Managed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3"/>
          <p:cNvSpPr/>
          <p:nvPr/>
        </p:nvSpPr>
        <p:spPr>
          <a:xfrm>
            <a:off x="5175720" y="340272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AmazonSSMManagedInstanceCore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Image 7" descr="preencoded.png"/>
          <p:cNvPicPr/>
          <p:nvPr/>
        </p:nvPicPr>
        <p:blipFill>
          <a:blip r:embed="rId6"/>
          <a:stretch/>
        </p:blipFill>
        <p:spPr>
          <a:xfrm>
            <a:off x="5004360" y="342180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 14"/>
          <p:cNvSpPr/>
          <p:nvPr/>
        </p:nvSpPr>
        <p:spPr>
          <a:xfrm>
            <a:off x="5175720" y="361980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Session connect &amp; logging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Image 8" descr="preencoded.png"/>
          <p:cNvPicPr/>
          <p:nvPr/>
        </p:nvPicPr>
        <p:blipFill>
          <a:blip r:embed="rId7"/>
          <a:stretch/>
        </p:blipFill>
        <p:spPr>
          <a:xfrm>
            <a:off x="5004360" y="363888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" name="Text 15"/>
          <p:cNvSpPr/>
          <p:nvPr/>
        </p:nvSpPr>
        <p:spPr>
          <a:xfrm>
            <a:off x="5175720" y="3837240"/>
            <a:ext cx="281664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No key pair needed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Image 9" descr="preencoded.png"/>
          <p:cNvPicPr/>
          <p:nvPr/>
        </p:nvPicPr>
        <p:blipFill>
          <a:blip r:embed="rId8"/>
          <a:stretch/>
        </p:blipFill>
        <p:spPr>
          <a:xfrm>
            <a:off x="5004360" y="3855960"/>
            <a:ext cx="94680" cy="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Image 10" descr="preencoded.png"/>
          <p:cNvPicPr/>
          <p:nvPr/>
        </p:nvPicPr>
        <p:blipFill>
          <a:blip r:embed="rId9"/>
          <a:stretch/>
        </p:blipFill>
        <p:spPr>
          <a:xfrm>
            <a:off x="8136000" y="2612160"/>
            <a:ext cx="3693240" cy="1755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Shape 16"/>
          <p:cNvSpPr/>
          <p:nvPr/>
        </p:nvSpPr>
        <p:spPr>
          <a:xfrm>
            <a:off x="8486640" y="3000240"/>
            <a:ext cx="304200" cy="304200"/>
          </a:xfrm>
          <a:prstGeom prst="roundRect">
            <a:avLst>
              <a:gd name="adj" fmla="val 28125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11" descr="preencoded.png"/>
          <p:cNvPicPr/>
          <p:nvPr/>
        </p:nvPicPr>
        <p:blipFill>
          <a:blip r:embed="rId10"/>
          <a:stretch/>
        </p:blipFill>
        <p:spPr>
          <a:xfrm>
            <a:off x="8582760" y="3088440"/>
            <a:ext cx="115920" cy="13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7"/>
          <p:cNvSpPr/>
          <p:nvPr/>
        </p:nvSpPr>
        <p:spPr>
          <a:xfrm>
            <a:off x="8888760" y="3075120"/>
            <a:ext cx="125568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105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Policy 2: Custom S3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8"/>
          <p:cNvSpPr/>
          <p:nvPr/>
        </p:nvSpPr>
        <p:spPr>
          <a:xfrm>
            <a:off x="8660160" y="340272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s3:ListBucket on bucket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Image 12" descr="preencoded.png"/>
          <p:cNvPicPr/>
          <p:nvPr/>
        </p:nvPicPr>
        <p:blipFill>
          <a:blip r:embed="rId11"/>
          <a:stretch/>
        </p:blipFill>
        <p:spPr>
          <a:xfrm>
            <a:off x="8488440" y="342180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Text 19"/>
          <p:cNvSpPr/>
          <p:nvPr/>
        </p:nvSpPr>
        <p:spPr>
          <a:xfrm>
            <a:off x="8660160" y="361980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s3:PutObject, GetObject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Image 13" descr="preencoded.png"/>
          <p:cNvPicPr/>
          <p:nvPr/>
        </p:nvPicPr>
        <p:blipFill>
          <a:blip r:embed="rId12"/>
          <a:stretch/>
        </p:blipFill>
        <p:spPr>
          <a:xfrm>
            <a:off x="8488440" y="3638880"/>
            <a:ext cx="94680" cy="9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20"/>
          <p:cNvSpPr/>
          <p:nvPr/>
        </p:nvSpPr>
        <p:spPr>
          <a:xfrm>
            <a:off x="8660160" y="3837240"/>
            <a:ext cx="281700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261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3D4D67"/>
                </a:solidFill>
                <a:effectLst/>
                <a:uFillTx/>
                <a:latin typeface="DM Sans"/>
                <a:ea typeface="DM Sans"/>
              </a:rPr>
              <a:t> s3:DeleteObject on /*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Image 14" descr="preencoded.png"/>
          <p:cNvPicPr/>
          <p:nvPr/>
        </p:nvPicPr>
        <p:blipFill>
          <a:blip r:embed="rId13"/>
          <a:stretch/>
        </p:blipFill>
        <p:spPr>
          <a:xfrm>
            <a:off x="8488440" y="3855960"/>
            <a:ext cx="94680" cy="94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533520" y="304920"/>
            <a:ext cx="5333400" cy="67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679"/>
              </a:lnSpc>
              <a:tabLst>
                <a:tab pos="0" algn="l"/>
              </a:tabLst>
            </a:pPr>
            <a:r>
              <a:rPr lang="en-US" sz="2550" b="1" u="none" spc="-5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Upload hits ALB, lands on EC2, then cron syncs to S3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Image 0" descr="preencoded.png"/>
          <p:cNvPicPr/>
          <p:nvPr/>
        </p:nvPicPr>
        <p:blipFill>
          <a:blip r:embed="rId1"/>
          <a:stretch/>
        </p:blipFill>
        <p:spPr>
          <a:xfrm>
            <a:off x="10806840" y="324000"/>
            <a:ext cx="851040" cy="25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Text 1"/>
          <p:cNvSpPr/>
          <p:nvPr/>
        </p:nvSpPr>
        <p:spPr>
          <a:xfrm>
            <a:off x="10902240" y="380880"/>
            <a:ext cx="660600" cy="14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 defTabSz="914400">
              <a:lnSpc>
                <a:spcPts val="1239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820" b="1" u="none" spc="65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DAT</a:t>
            </a:r>
            <a:r>
              <a:rPr lang="en-US" sz="820" b="1" u="none" spc="65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A </a:t>
            </a:r>
            <a:r>
              <a:rPr lang="en-US" sz="820" b="1" u="none" spc="65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FLO</a:t>
            </a:r>
            <a:r>
              <a:rPr lang="en-US" sz="820" b="1" u="none" spc="65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W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8420040" y="662040"/>
            <a:ext cx="323784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A5D7A"/>
                </a:solidFill>
                <a:effectLst/>
                <a:uFillTx/>
                <a:latin typeface="DM Sans"/>
                <a:ea typeface="DM Sans"/>
              </a:rPr>
              <a:t>Bidirectional sync ensures every EC2 sees same files within 60 seconds.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1" descr="preencoded.png"/>
          <p:cNvPicPr/>
          <p:nvPr/>
        </p:nvPicPr>
        <p:blipFill>
          <a:blip r:embed="rId2"/>
          <a:stretch/>
        </p:blipFill>
        <p:spPr>
          <a:xfrm>
            <a:off x="228600" y="1717920"/>
            <a:ext cx="11734200" cy="3142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2" name="Image 2" descr="preencoded.png"/>
          <p:cNvPicPr/>
          <p:nvPr/>
        </p:nvPicPr>
        <p:blipFill>
          <a:blip r:embed="rId3"/>
          <a:stretch/>
        </p:blipFill>
        <p:spPr>
          <a:xfrm>
            <a:off x="733320" y="2298960"/>
            <a:ext cx="10724400" cy="1904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3" name="Image 3" descr="preencoded.png"/>
          <p:cNvPicPr/>
          <p:nvPr/>
        </p:nvPicPr>
        <p:blipFill>
          <a:blip r:embed="rId4"/>
          <a:stretch/>
        </p:blipFill>
        <p:spPr>
          <a:xfrm>
            <a:off x="41904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Image 4" descr="preencoded.png"/>
          <p:cNvPicPr/>
          <p:nvPr/>
        </p:nvPicPr>
        <p:blipFill>
          <a:blip r:embed="rId5"/>
          <a:stretch/>
        </p:blipFill>
        <p:spPr>
          <a:xfrm>
            <a:off x="68580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 3"/>
          <p:cNvSpPr/>
          <p:nvPr/>
        </p:nvSpPr>
        <p:spPr>
          <a:xfrm>
            <a:off x="796680" y="5786280"/>
            <a:ext cx="15516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104760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User → IGW → ALB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5"/>
          <p:cNvSpPr/>
          <p:nvPr/>
        </p:nvSpPr>
        <p:spPr>
          <a:xfrm>
            <a:off x="1047600" y="5923080"/>
            <a:ext cx="201384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Browser upload over 80/443. IGW routes to ALB in public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10.0.1.0/24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/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10.0.2.0/24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Image 5" descr="preencoded.png"/>
          <p:cNvPicPr/>
          <p:nvPr/>
        </p:nvPicPr>
        <p:blipFill>
          <a:blip r:embed="rId6"/>
          <a:stretch/>
        </p:blipFill>
        <p:spPr>
          <a:xfrm>
            <a:off x="323388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Image 6" descr="preencoded.png"/>
          <p:cNvPicPr/>
          <p:nvPr/>
        </p:nvPicPr>
        <p:blipFill>
          <a:blip r:embed="rId7"/>
          <a:stretch/>
        </p:blipFill>
        <p:spPr>
          <a:xfrm>
            <a:off x="350028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 6"/>
          <p:cNvSpPr/>
          <p:nvPr/>
        </p:nvSpPr>
        <p:spPr>
          <a:xfrm>
            <a:off x="3597840" y="5786280"/>
            <a:ext cx="16848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386244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ALB → Target Group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3862440" y="5923080"/>
            <a:ext cx="2013840" cy="3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TG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SafeShare-TG :5000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health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/health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every 30s. Picks healthy EC2.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7" descr="preencoded.png"/>
          <p:cNvPicPr/>
          <p:nvPr/>
        </p:nvPicPr>
        <p:blipFill>
          <a:blip r:embed="rId8"/>
          <a:stretch/>
        </p:blipFill>
        <p:spPr>
          <a:xfrm>
            <a:off x="604836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4" name="Image 8" descr="preencoded.png"/>
          <p:cNvPicPr/>
          <p:nvPr/>
        </p:nvPicPr>
        <p:blipFill>
          <a:blip r:embed="rId9"/>
          <a:stretch/>
        </p:blipFill>
        <p:spPr>
          <a:xfrm>
            <a:off x="631512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9"/>
          <p:cNvSpPr/>
          <p:nvPr/>
        </p:nvSpPr>
        <p:spPr>
          <a:xfrm>
            <a:off x="6411240" y="5786280"/>
            <a:ext cx="16992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0"/>
          <p:cNvSpPr/>
          <p:nvPr/>
        </p:nvSpPr>
        <p:spPr>
          <a:xfrm>
            <a:off x="667692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EC2 Flask save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1"/>
          <p:cNvSpPr/>
          <p:nvPr/>
        </p:nvSpPr>
        <p:spPr>
          <a:xfrm>
            <a:off x="6676920" y="5923080"/>
            <a:ext cx="201384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Flask saves to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/home/ec2-user/uploads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 Instance ID shown in UI for tracking.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" name="Image 9" descr="preencoded.png"/>
          <p:cNvPicPr/>
          <p:nvPr/>
        </p:nvPicPr>
        <p:blipFill>
          <a:blip r:embed="rId10"/>
          <a:stretch/>
        </p:blipFill>
        <p:spPr>
          <a:xfrm>
            <a:off x="8862840" y="5441040"/>
            <a:ext cx="2909160" cy="1244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Image 10" descr="preencoded.png"/>
          <p:cNvPicPr/>
          <p:nvPr/>
        </p:nvPicPr>
        <p:blipFill>
          <a:blip r:embed="rId11"/>
          <a:stretch/>
        </p:blipFill>
        <p:spPr>
          <a:xfrm>
            <a:off x="9129600" y="5736240"/>
            <a:ext cx="266040" cy="26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 12"/>
          <p:cNvSpPr/>
          <p:nvPr/>
        </p:nvSpPr>
        <p:spPr>
          <a:xfrm>
            <a:off x="9222840" y="5786280"/>
            <a:ext cx="17280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FFFFFF"/>
                </a:solidFill>
                <a:effectLst/>
                <a:uFillTx/>
                <a:latin typeface="DM Sans"/>
                <a:ea typeface="DM Sans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9491760" y="5736240"/>
            <a:ext cx="2013840" cy="1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71"/>
              </a:lnSpc>
              <a:spcAft>
                <a:spcPts val="300"/>
              </a:spcAft>
              <a:tabLst>
                <a:tab pos="0" algn="l"/>
              </a:tabLst>
            </a:pPr>
            <a:r>
              <a:rPr lang="en-US" sz="98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Cron → S3 → All EC2s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4"/>
          <p:cNvSpPr/>
          <p:nvPr/>
        </p:nvSpPr>
        <p:spPr>
          <a:xfrm>
            <a:off x="9491760" y="5923080"/>
            <a:ext cx="2013840" cy="3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304"/>
              </a:lnSpc>
              <a:tabLst>
                <a:tab pos="0" algn="l"/>
              </a:tabLst>
            </a:pP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* * * * *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aws s3 sync --delete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 both ways. Log </a:t>
            </a:r>
            <a:r>
              <a:rPr lang="en-US" sz="820" b="0" u="none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DM Sans"/>
                <a:ea typeface="DM Sans"/>
              </a:rPr>
              <a:t>/var/log/s3-sync.log</a:t>
            </a:r>
            <a:r>
              <a:rPr lang="en-US" sz="900" b="0" u="none" strike="noStrike">
                <a:solidFill>
                  <a:srgbClr val="4A5A78"/>
                </a:solidFill>
                <a:effectLst/>
                <a:uFillTx/>
                <a:latin typeface="DM Sans"/>
                <a:ea typeface="DM Sans"/>
              </a:rPr>
              <a:t>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533520" y="343080"/>
            <a:ext cx="5714280" cy="78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2993"/>
              </a:lnSpc>
              <a:tabLst>
                <a:tab pos="0" algn="l"/>
              </a:tabLst>
            </a:pPr>
            <a:r>
              <a:rPr lang="en-US" sz="2850" b="1" u="none" spc="-57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Highly available, persistent, and </a:t>
            </a:r>
            <a:r>
              <a:rPr lang="en-US" sz="2850" b="1" u="none" spc="-57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cost optimized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8801280" y="583560"/>
            <a:ext cx="285696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A5D7A"/>
                </a:solidFill>
                <a:effectLst/>
                <a:uFillTx/>
                <a:latin typeface="DM Sans"/>
                <a:ea typeface="DM Sans"/>
              </a:rPr>
              <a:t>3-tier holds under replacement, scales with ASG, and syncs via S3 within 60s — no single point of failure.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5" name="Image 0" descr="preencoded.png"/>
          <p:cNvPicPr/>
          <p:nvPr/>
        </p:nvPicPr>
        <p:blipFill>
          <a:blip r:embed="rId1"/>
          <a:stretch/>
        </p:blipFill>
        <p:spPr>
          <a:xfrm>
            <a:off x="304920" y="1036080"/>
            <a:ext cx="5942880" cy="157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Shape 2"/>
          <p:cNvSpPr/>
          <p:nvPr/>
        </p:nvSpPr>
        <p:spPr>
          <a:xfrm>
            <a:off x="752400" y="152388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" name="Image 1" descr="preencoded.png"/>
          <p:cNvPicPr/>
          <p:nvPr/>
        </p:nvPicPr>
        <p:blipFill>
          <a:blip r:embed="rId2"/>
          <a:stretch/>
        </p:blipFill>
        <p:spPr>
          <a:xfrm>
            <a:off x="895320" y="166464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Text 3"/>
          <p:cNvSpPr/>
          <p:nvPr/>
        </p:nvSpPr>
        <p:spPr>
          <a:xfrm>
            <a:off x="1343160" y="1522080"/>
            <a:ext cx="44571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HA across 2 AZs </a:t>
            </a:r>
            <a:r>
              <a:rPr lang="en-US" sz="750" b="1" u="none" spc="-11" strike="noStrike">
                <a:solidFill>
                  <a:srgbClr val="2773E4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10.0.1/2.0 &amp; 101/102.0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4"/>
          <p:cNvSpPr/>
          <p:nvPr/>
        </p:nvSpPr>
        <p:spPr>
          <a:xfrm>
            <a:off x="1343160" y="1769400"/>
            <a:ext cx="445716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ALB in public subnets, EC2 in private. If AZ-a fails, AZ-b serves. Private has no public IP.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Image 2" descr="preencoded.png"/>
          <p:cNvPicPr/>
          <p:nvPr/>
        </p:nvPicPr>
        <p:blipFill>
          <a:blip r:embed="rId3"/>
          <a:stretch/>
        </p:blipFill>
        <p:spPr>
          <a:xfrm>
            <a:off x="5943600" y="1036080"/>
            <a:ext cx="5942880" cy="157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Shape 5"/>
          <p:cNvSpPr/>
          <p:nvPr/>
        </p:nvSpPr>
        <p:spPr>
          <a:xfrm>
            <a:off x="6391440" y="152388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2" name="Image 3" descr="preencoded.png"/>
          <p:cNvPicPr/>
          <p:nvPr/>
        </p:nvPicPr>
        <p:blipFill>
          <a:blip r:embed="rId4"/>
          <a:stretch/>
        </p:blipFill>
        <p:spPr>
          <a:xfrm>
            <a:off x="6534000" y="1664640"/>
            <a:ext cx="1706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Text 6"/>
          <p:cNvSpPr/>
          <p:nvPr/>
        </p:nvSpPr>
        <p:spPr>
          <a:xfrm>
            <a:off x="6981840" y="152208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Persistent via S3 sync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6981840" y="1750680"/>
            <a:ext cx="4457160" cy="18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Central bucket </a:t>
            </a:r>
            <a:r>
              <a:rPr lang="en-US" sz="820" b="0" u="none" strike="noStrike">
                <a:solidFill>
                  <a:srgbClr val="475B76"/>
                </a:solidFill>
                <a:effectLst/>
                <a:highlight>
                  <a:srgbClr val="EEEFFF"/>
                </a:highlight>
                <a:uFillTx/>
                <a:latin typeface="monospace"/>
                <a:ea typeface="monospace"/>
              </a:rPr>
              <a:t>safeshare-files-99</a:t>
            </a: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 — bidirectional </a:t>
            </a:r>
            <a:r>
              <a:rPr lang="en-US" sz="820" b="0" u="none" strike="noStrike">
                <a:solidFill>
                  <a:srgbClr val="475B76"/>
                </a:solidFill>
                <a:effectLst/>
                <a:uFillTx/>
                <a:latin typeface="monospace"/>
                <a:ea typeface="monospace"/>
              </a:rPr>
              <a:t>--delete</a:t>
            </a: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 every minute.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Image 4" descr="preencoded.png"/>
          <p:cNvPicPr/>
          <p:nvPr/>
        </p:nvPicPr>
        <p:blipFill>
          <a:blip r:embed="rId5"/>
          <a:stretch/>
        </p:blipFill>
        <p:spPr>
          <a:xfrm>
            <a:off x="304920" y="2195280"/>
            <a:ext cx="5942880" cy="156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Shape 8"/>
          <p:cNvSpPr/>
          <p:nvPr/>
        </p:nvSpPr>
        <p:spPr>
          <a:xfrm>
            <a:off x="752400" y="267660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Image 5" descr="preencoded.png"/>
          <p:cNvPicPr/>
          <p:nvPr/>
        </p:nvPicPr>
        <p:blipFill>
          <a:blip r:embed="rId6"/>
          <a:stretch/>
        </p:blipFill>
        <p:spPr>
          <a:xfrm>
            <a:off x="884520" y="2823840"/>
            <a:ext cx="1922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 9"/>
          <p:cNvSpPr/>
          <p:nvPr/>
        </p:nvSpPr>
        <p:spPr>
          <a:xfrm>
            <a:off x="1343160" y="268092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S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l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f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-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a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l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i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n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g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&amp;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z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r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-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d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w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n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t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i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m</a:t>
            </a: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0"/>
          <p:cNvSpPr/>
          <p:nvPr/>
        </p:nvSpPr>
        <p:spPr>
          <a:xfrm>
            <a:off x="1343160" y="2909520"/>
            <a:ext cx="4457160" cy="3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ASG min 3 / desired 3 / max 6. Instance refresh replaces with launch template t3.micro </a:t>
            </a: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AL2023.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Image 6" descr="preencoded.png"/>
          <p:cNvPicPr/>
          <p:nvPr/>
        </p:nvPicPr>
        <p:blipFill>
          <a:blip r:embed="rId7"/>
          <a:stretch/>
        </p:blipFill>
        <p:spPr>
          <a:xfrm>
            <a:off x="5943600" y="2195280"/>
            <a:ext cx="5942880" cy="156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Shape 11"/>
          <p:cNvSpPr/>
          <p:nvPr/>
        </p:nvSpPr>
        <p:spPr>
          <a:xfrm>
            <a:off x="6391440" y="2676600"/>
            <a:ext cx="456480" cy="456480"/>
          </a:xfrm>
          <a:prstGeom prst="roundRect">
            <a:avLst>
              <a:gd name="adj" fmla="val 25000"/>
            </a:avLst>
          </a:prstGeom>
          <a:solidFill>
            <a:srgbClr val="E2E8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Image 7" descr="preencoded.png"/>
          <p:cNvPicPr/>
          <p:nvPr/>
        </p:nvPicPr>
        <p:blipFill>
          <a:blip r:embed="rId8"/>
          <a:stretch/>
        </p:blipFill>
        <p:spPr>
          <a:xfrm>
            <a:off x="6523560" y="2823840"/>
            <a:ext cx="192240" cy="17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Text 12"/>
          <p:cNvSpPr/>
          <p:nvPr/>
        </p:nvSpPr>
        <p:spPr>
          <a:xfrm>
            <a:off x="6981840" y="2680920"/>
            <a:ext cx="4457160" cy="1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349"/>
              </a:lnSpc>
              <a:spcAft>
                <a:spcPts val="451"/>
              </a:spcAft>
              <a:tabLst>
                <a:tab pos="0" algn="l"/>
              </a:tabLst>
            </a:pPr>
            <a:r>
              <a:rPr lang="en-US" sz="1130" b="1" u="none" spc="-11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Cost optimized &amp; scalable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3"/>
          <p:cNvSpPr/>
          <p:nvPr/>
        </p:nvSpPr>
        <p:spPr>
          <a:xfrm>
            <a:off x="6981840" y="2909520"/>
            <a:ext cx="44571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ts val="1414"/>
              </a:lnSpc>
              <a:tabLst>
                <a:tab pos="0" algn="l"/>
              </a:tabLst>
            </a:pPr>
            <a:r>
              <a:rPr lang="en-US" sz="980" b="0" u="none" strike="noStrike">
                <a:solidFill>
                  <a:srgbClr val="475B76"/>
                </a:solidFill>
                <a:effectLst/>
                <a:uFillTx/>
                <a:latin typeface="DM Sans"/>
                <a:ea typeface="DM Sans"/>
              </a:rPr>
              <a:t>t3.micro . Scales automatically, logs at </a:t>
            </a:r>
            <a:r>
              <a:rPr lang="en-US" sz="820" b="0" u="none" strike="noStrike">
                <a:solidFill>
                  <a:srgbClr val="475B76"/>
                </a:solidFill>
                <a:effectLst/>
                <a:uFillTx/>
                <a:latin typeface="monospace"/>
                <a:ea typeface="monospace"/>
              </a:rPr>
              <a:t>/var/log/s3-sync.log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4"/>
          <p:cNvSpPr/>
          <p:nvPr/>
        </p:nvSpPr>
        <p:spPr>
          <a:xfrm>
            <a:off x="533520" y="5867280"/>
            <a:ext cx="11124360" cy="685080"/>
          </a:xfrm>
          <a:prstGeom prst="roundRect">
            <a:avLst>
              <a:gd name="adj" fmla="val 19444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5"/>
          <p:cNvSpPr/>
          <p:nvPr/>
        </p:nvSpPr>
        <p:spPr>
          <a:xfrm>
            <a:off x="933480" y="6119640"/>
            <a:ext cx="48758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576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FFFFF"/>
                </a:solidFill>
                <a:effectLst/>
                <a:uFillTx/>
                <a:latin typeface="Plus Jakarta Sans"/>
                <a:ea typeface="Plus Jakarta Sans"/>
              </a:rPr>
              <a:t> Flask :5000 in /home/ec2-user/uploads • cron * * * * * • Health /health 30s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6"/>
          <p:cNvSpPr/>
          <p:nvPr/>
        </p:nvSpPr>
        <p:spPr>
          <a:xfrm>
            <a:off x="723960" y="6162840"/>
            <a:ext cx="94680" cy="94680"/>
          </a:xfrm>
          <a:prstGeom prst="roundRect">
            <a:avLst>
              <a:gd name="adj" fmla="val 50000"/>
            </a:avLst>
          </a:prstGeom>
          <a:solidFill>
            <a:srgbClr val="A0C72A"/>
          </a:solidFill>
          <a:ln w="0">
            <a:noFill/>
          </a:ln>
          <a:effectLst>
            <a:outerShdw algn="bl" blurRad="101520" dir="16200000" dist="50760" kx="0" ky="0" rotWithShape="0" sx="100000" sy="100000">
              <a:srgbClr val="A0C72A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47520" tIns="22680" rIns="47520" bIns="2268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7"/>
          <p:cNvSpPr/>
          <p:nvPr/>
        </p:nvSpPr>
        <p:spPr>
          <a:xfrm>
            <a:off x="8827200" y="6019920"/>
            <a:ext cx="648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0C72A"/>
                </a:solidFill>
                <a:effectLst/>
                <a:uFillTx/>
                <a:latin typeface="Plus Jakarta Sans"/>
                <a:ea typeface="Plus Jakarta Sans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8"/>
          <p:cNvSpPr/>
          <p:nvPr/>
        </p:nvSpPr>
        <p:spPr>
          <a:xfrm>
            <a:off x="8827200" y="6286680"/>
            <a:ext cx="64800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D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E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S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I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R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E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D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E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C</a:t>
            </a: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2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9"/>
          <p:cNvSpPr/>
          <p:nvPr/>
        </p:nvSpPr>
        <p:spPr>
          <a:xfrm>
            <a:off x="9704520" y="6019920"/>
            <a:ext cx="77004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2024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A0C72A"/>
                </a:solidFill>
                <a:effectLst/>
                <a:uFillTx/>
                <a:latin typeface="Plus Jakarta Sans"/>
                <a:ea typeface="Plus Jakarta Sans"/>
              </a:rPr>
              <a:t>60s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0"/>
          <p:cNvSpPr/>
          <p:nvPr/>
        </p:nvSpPr>
        <p:spPr>
          <a:xfrm>
            <a:off x="9704520" y="6286680"/>
            <a:ext cx="77004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914400">
              <a:lnSpc>
                <a:spcPts val="1125"/>
              </a:lnSpc>
              <a:spcBef>
                <a:spcPts val="150"/>
              </a:spcBef>
              <a:tabLst>
                <a:tab pos="0" algn="l"/>
              </a:tabLst>
            </a:pPr>
            <a:r>
              <a:rPr lang="en-US" sz="750" b="0" u="none" spc="51" strike="noStrike">
                <a:solidFill>
                  <a:srgbClr val="FFFFFF">
                    <a:alpha val="60000"/>
                  </a:srgbClr>
                </a:solidFill>
                <a:effectLst/>
                <a:uFillTx/>
                <a:latin typeface="DM Sans"/>
                <a:ea typeface="DM Sans"/>
              </a:rPr>
              <a:t>SYNC INTERVAL</a:t>
            </a:r>
            <a:endParaRPr lang="en-US" sz="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1"/>
          <p:cNvSpPr/>
          <p:nvPr/>
        </p:nvSpPr>
        <p:spPr>
          <a:xfrm>
            <a:off x="10703880" y="6019920"/>
            <a:ext cx="763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"/>
          <p:cNvPicPr/>
          <p:nvPr/>
        </p:nvPicPr>
        <p:blipFill>
          <a:blip r:embed="rId1"/>
          <a:stretch/>
        </p:blipFill>
        <p:spPr>
          <a:xfrm>
            <a:off x="979920" y="18000"/>
            <a:ext cx="10285920" cy="68572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 txBox="1"/>
          <p:nvPr/>
        </p:nvSpPr>
        <p:spPr>
          <a:xfrm>
            <a:off x="4114800" y="2514600"/>
            <a:ext cx="4187160" cy="1027800"/>
          </a:xfrm>
          <a:prstGeom prst="rect">
            <a:avLst/>
          </a:prstGeom>
          <a:noFill/>
          <a:ln w="38160">
            <a:noFill/>
          </a:ln>
        </p:spPr>
        <p:txBody>
          <a:bodyPr wrap="none" lIns="90000" tIns="45000" rIns="90000" bIns="45000" anchor="t">
            <a:spAutoFit/>
          </a:bodyPr>
          <a:p>
            <a:pPr/>
            <a:r>
              <a:rPr lang="en-US" sz="6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 Demo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E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 0" descr="preencoded.png"/>
          <p:cNvPicPr/>
          <p:nvPr/>
        </p:nvPicPr>
        <p:blipFill>
          <a:blip r:embed="rId1"/>
          <a:stretch/>
        </p:blipFill>
        <p:spPr>
          <a:xfrm>
            <a:off x="7620120" y="0"/>
            <a:ext cx="4571280" cy="457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6" name="Image 1" descr="preencoded.png"/>
          <p:cNvPicPr/>
          <p:nvPr/>
        </p:nvPicPr>
        <p:blipFill>
          <a:blip r:embed="rId2"/>
          <a:stretch/>
        </p:blipFill>
        <p:spPr>
          <a:xfrm>
            <a:off x="0" y="3429000"/>
            <a:ext cx="3809160" cy="342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Image 2" descr="preencoded.png"/>
          <p:cNvPicPr/>
          <p:nvPr/>
        </p:nvPicPr>
        <p:blipFill>
          <a:blip r:embed="rId3"/>
          <a:stretch/>
        </p:blipFill>
        <p:spPr>
          <a:xfrm>
            <a:off x="5355360" y="1073160"/>
            <a:ext cx="1480320" cy="285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0"/>
          <p:cNvSpPr/>
          <p:nvPr/>
        </p:nvSpPr>
        <p:spPr>
          <a:xfrm>
            <a:off x="5488920" y="1139760"/>
            <a:ext cx="121356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349"/>
              </a:lnSpc>
              <a:spcAft>
                <a:spcPts val="1650"/>
              </a:spcAft>
              <a:tabLst>
                <a:tab pos="0" algn="l"/>
              </a:tabLst>
            </a:pPr>
            <a:r>
              <a:rPr lang="en-US" sz="900" b="1" u="none" spc="10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Q&amp;A • SAFESHARE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4434480" y="1568520"/>
            <a:ext cx="3322440" cy="108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T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h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a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n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k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 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y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o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u</a:t>
            </a:r>
            <a:r>
              <a:rPr lang="en-US" sz="4350" b="1" u="none" spc="-88" strike="noStrike">
                <a:solidFill>
                  <a:srgbClr val="1A2433"/>
                </a:solidFill>
                <a:effectLst/>
                <a:uFillTx/>
                <a:latin typeface="Plus Jakarta Sans"/>
                <a:ea typeface="Plus Jakarta Sans"/>
              </a:rPr>
              <a:t>!</a:t>
            </a: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tabLst>
                <a:tab pos="0" algn="l"/>
              </a:tabLst>
            </a:pPr>
            <a:endParaRPr lang="en-US" sz="4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1"/>
              </a:lnSpc>
              <a:spcAft>
                <a:spcPts val="1199"/>
              </a:spcAft>
              <a:tabLst>
                <a:tab pos="0" algn="l"/>
              </a:tabLst>
            </a:pP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L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e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t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'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s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s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c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a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l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e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 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i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t</a:t>
            </a:r>
            <a:r>
              <a:rPr lang="en-US" sz="2600" b="1" u="none" spc="-88" strike="noStrike">
                <a:solidFill>
                  <a:srgbClr val="2773E4"/>
                </a:solidFill>
                <a:effectLst/>
                <a:uFillTx/>
                <a:latin typeface="DM Sans"/>
                <a:ea typeface="DM Sans"/>
              </a:rPr>
              <a:t>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Image 3" descr="preencoded.png"/>
          <p:cNvPicPr/>
          <p:nvPr/>
        </p:nvPicPr>
        <p:blipFill>
          <a:blip r:embed="rId4"/>
          <a:stretch/>
        </p:blipFill>
        <p:spPr>
          <a:xfrm>
            <a:off x="3530520" y="3684600"/>
            <a:ext cx="188208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Shape 3"/>
          <p:cNvSpPr/>
          <p:nvPr/>
        </p:nvSpPr>
        <p:spPr>
          <a:xfrm>
            <a:off x="379080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" name="Image 4" descr="preencoded.png"/>
          <p:cNvPicPr/>
          <p:nvPr/>
        </p:nvPicPr>
        <p:blipFill>
          <a:blip r:embed="rId5"/>
          <a:stretch/>
        </p:blipFill>
        <p:spPr>
          <a:xfrm>
            <a:off x="3852000" y="3961080"/>
            <a:ext cx="993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3" name="Text 4"/>
          <p:cNvSpPr/>
          <p:nvPr/>
        </p:nvSpPr>
        <p:spPr>
          <a:xfrm>
            <a:off x="4092480" y="3934800"/>
            <a:ext cx="106308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RDS for metadata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Image 5" descr="preencoded.png"/>
          <p:cNvPicPr/>
          <p:nvPr/>
        </p:nvPicPr>
        <p:blipFill>
          <a:blip r:embed="rId6"/>
          <a:stretch/>
        </p:blipFill>
        <p:spPr>
          <a:xfrm>
            <a:off x="5337360" y="3684600"/>
            <a:ext cx="179820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Shape 5"/>
          <p:cNvSpPr/>
          <p:nvPr/>
        </p:nvSpPr>
        <p:spPr>
          <a:xfrm>
            <a:off x="559116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2773E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6" name="Image 6" descr="preencoded.png"/>
          <p:cNvPicPr/>
          <p:nvPr/>
        </p:nvPicPr>
        <p:blipFill>
          <a:blip r:embed="rId7"/>
          <a:stretch/>
        </p:blipFill>
        <p:spPr>
          <a:xfrm>
            <a:off x="5666040" y="3961080"/>
            <a:ext cx="849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Text 6"/>
          <p:cNvSpPr/>
          <p:nvPr/>
        </p:nvSpPr>
        <p:spPr>
          <a:xfrm>
            <a:off x="5899320" y="3934800"/>
            <a:ext cx="9788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CloudFront CDN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7" descr="preencoded.png"/>
          <p:cNvPicPr/>
          <p:nvPr/>
        </p:nvPicPr>
        <p:blipFill>
          <a:blip r:embed="rId8"/>
          <a:stretch/>
        </p:blipFill>
        <p:spPr>
          <a:xfrm>
            <a:off x="7059960" y="3684600"/>
            <a:ext cx="160056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Shape 7"/>
          <p:cNvSpPr/>
          <p:nvPr/>
        </p:nvSpPr>
        <p:spPr>
          <a:xfrm>
            <a:off x="7315200" y="39052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A0C7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0" name="Image 8" descr="preencoded.png"/>
          <p:cNvPicPr/>
          <p:nvPr/>
        </p:nvPicPr>
        <p:blipFill>
          <a:blip r:embed="rId9"/>
          <a:stretch/>
        </p:blipFill>
        <p:spPr>
          <a:xfrm>
            <a:off x="7381440" y="3961080"/>
            <a:ext cx="993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8"/>
          <p:cNvSpPr/>
          <p:nvPr/>
        </p:nvSpPr>
        <p:spPr>
          <a:xfrm>
            <a:off x="7621920" y="3934800"/>
            <a:ext cx="78120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HTTPS / ACM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Image 9" descr="preencoded.png"/>
          <p:cNvPicPr/>
          <p:nvPr/>
        </p:nvPicPr>
        <p:blipFill>
          <a:blip r:embed="rId10"/>
          <a:stretch/>
        </p:blipFill>
        <p:spPr>
          <a:xfrm>
            <a:off x="5283000" y="4237200"/>
            <a:ext cx="1625400" cy="66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Shape 9"/>
          <p:cNvSpPr/>
          <p:nvPr/>
        </p:nvSpPr>
        <p:spPr>
          <a:xfrm>
            <a:off x="5543640" y="4457880"/>
            <a:ext cx="227880" cy="227880"/>
          </a:xfrm>
          <a:prstGeom prst="roundRect">
            <a:avLst>
              <a:gd name="adj" fmla="val 29167"/>
            </a:avLst>
          </a:prstGeom>
          <a:solidFill>
            <a:srgbClr val="1A24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4" name="Image 10" descr="preencoded.png"/>
          <p:cNvPicPr/>
          <p:nvPr/>
        </p:nvPicPr>
        <p:blipFill>
          <a:blip r:embed="rId11"/>
          <a:stretch/>
        </p:blipFill>
        <p:spPr>
          <a:xfrm>
            <a:off x="5597280" y="4513320"/>
            <a:ext cx="113760" cy="113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Text 10"/>
          <p:cNvSpPr/>
          <p:nvPr/>
        </p:nvSpPr>
        <p:spPr>
          <a:xfrm>
            <a:off x="5844960" y="4487040"/>
            <a:ext cx="806040" cy="17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 defTabSz="914400">
              <a:lnSpc>
                <a:spcPts val="1463"/>
              </a:lnSpc>
              <a:tabLst>
                <a:tab pos="0" algn="l"/>
              </a:tabLst>
            </a:pP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S3 </a:t>
            </a: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vers</a:t>
            </a: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ioni</a:t>
            </a:r>
            <a:r>
              <a:rPr lang="en-US" sz="980" b="1" u="none" strike="noStrike">
                <a:solidFill>
                  <a:srgbClr val="1A2433"/>
                </a:solidFill>
                <a:effectLst/>
                <a:uFillTx/>
                <a:latin typeface="DM Sans"/>
                <a:ea typeface="DM Sans"/>
              </a:rPr>
              <a:t>ng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12"/>
          <p:cNvSpPr/>
          <p:nvPr/>
        </p:nvSpPr>
        <p:spPr>
          <a:xfrm>
            <a:off x="4781520" y="5305320"/>
            <a:ext cx="304200" cy="304200"/>
          </a:xfrm>
          <a:prstGeom prst="roundRect">
            <a:avLst>
              <a:gd name="adj" fmla="val 25000"/>
            </a:avLst>
          </a:prstGeom>
          <a:solidFill>
            <a:srgbClr val="FFFFFF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Application>LibreOffice/26.8.0.3$Windows_AARCH64 LibreOffice_project/bce0998afefdbc355585ca324285661a2170ba77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2026-09-04T08:02:14Z</dcterms:created>
  <dc:creator>PptxGenJS</dc:creator>
  <dc:description/>
  <dc:language>en-US</dc:language>
  <cp:lastModifiedBy/>
  <cp:lastPrinted>2026-09-04T11:26:09Z</cp:lastPrinted>
  <dcterms:modified xsi:type="dcterms:W3CDTF">2026-09-04T12:12:23Z</dcterms:modified>
  <cp:revision>9</cp:revision>
  <dc:subject>PptxGenJS Presentation</dc:subject>
  <dc:title>SafeShare-3Tier-AWS-Architecture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